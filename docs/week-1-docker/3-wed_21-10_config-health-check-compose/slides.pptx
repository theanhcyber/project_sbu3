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70DA73C-CAB7-011F-5DF9-B8B3451E0432}">
          <p14:sldIdLst>
            <p14:sldId id="256"/>
          </p14:sldIdLst>
        </p14:section>
        <p14:section name="Mục tiêu" id="{CB9CC061-EFD4-5598-12CC-D29892838897}">
          <p14:sldIdLst>
            <p14:sldId id="257"/>
          </p14:sldIdLst>
        </p14:section>
        <p14:section name="Kiến trúc" id="{6D1F76DC-3C49-AEF9-3D24-8723BA5353F9}">
          <p14:sldIdLst>
            <p14:sldId id="258"/>
          </p14:sldIdLst>
        </p14:section>
        <p14:section name="Cấu hình &amp; health check" id="{7242C4D4-DA54-527F-FEDA-1409968187A8}">
          <p14:sldIdLst>
            <p14:sldId id="259"/>
            <p14:sldId id="260"/>
          </p14:sldIdLst>
        </p14:section>
        <p14:section name="Compose &amp; dữ liệu" id="{FC85F55D-D20D-3E6C-01D6-FD67347C690B}">
          <p14:sldIdLst>
            <p14:sldId id="261"/>
            <p14:sldId id="262"/>
          </p14:sldIdLst>
        </p14:section>
        <p14:section name="Bảo mật &amp; kết quả" id="{E7215170-9285-9D95-BC08-73B7F7E164FA}">
          <p14:sldIdLst>
            <p14:sldId id="263"/>
          </p14:sldIdLst>
        </p14:section>
        <p14:section name="Bài học &amp; kế tiếp" id="{80273AF7-9004-228E-9D05-AE5DADA5DE9D}">
          <p14:sldIdLst>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3" d="100"/>
          <a:sy n="73"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004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giây) Chào mọi người. Hôm nay em trình bày bài 21/10 trong lộ trình Docker: cấu hình bằng biến môi trường, health check và Docker Compose. Mục tiêu là chỉ một lệnh docker compose up là có cả API lẫn SQL Server 2022 chạy cùng nhau, dữ liệu không mất khi tắt bật lại, và mật khẩu không nằm trong repo.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Đề bài có 4 tiêu chí. Em báo trước kết quả: cả 4 đều đạt, có log kiểm thử thật, và em làm thêm phần nâng cao là healthcheck cho service db. Phần còn lại em giải thích làm thế nào để đạt từng tiêu chí.</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Compose dựng 3 service trong cùng một mạng nội bộ. Trong mạng này các container gọi nhau bằng tên service, nên API kết nối tới Server=db,1433 chứ không phải localhost. db là SQL Server 2022, có healthcheck chạy SELECT 1. db-init là container chạy một lần để tạo dữ liệu mẫu khi database chưa tồn tại. Dữ liệu SQL nằm trong named volume mssql-data. Ra ngoài máy host: API ở cổng 8080, SQL Server ở cổng 14333 vì 1433 đã bị SQL Server cài sẵn trên máy chiếm.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Yêu cầu R1: connection string đọc từ biến môi trường ConnectionStrings__Default. Mật khẩu chỉ nằm trong .env; Compose tự đọc .env và thay vào chỗ ${MSSQL_SA_PASSWORD}; container api nhận biến môi trường. ASP.NET Core nạp appsettings trước rồi mới tới biến môi trường, nên biến môi trường ghi đè. Hai dấu gạch dưới tương đương dấu hai chấm. Vì thế em phải đổi tên key DefaultConnection thành Default thì biến mới ghi đè đúng chỗ.</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Yêu cầu R2. Em đăng ký health check bằng AddHealthChecks và thêm AddDbContextCheck: mỗi lần gọi /health, EF Core thử mở kết nối tới SQL Server. Mở được thì Healthy 200, không được thì Unhealthy 503. Các hệ thống như Docker, load balancer, Kubernetes hay App Runner ở tuần 2 chỉ đọc status code này. Khi em tắt db, /health trả 503 sau 7,9 giây, nhờ Connect Timeout=5 nên không phải chờ 30 giây.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Ba khối quan trọng trong file compose. Một: healthcheck cho db, Docker tự chạy SELECT 1 mỗi 10 giây; đây là phần nâng cao của đề. Hai: depends_on kèm condition; SQL Server cần khoảng 30 giây mới nhận kết nối, nên API phải đợi db healthy và db-init chạy xong. Ba: ký hiệu $$ trong lệnh healthcheck, để shell trong container đọc biến môi trường chứ không phải Compose thay giá trị lúc đọc file.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phút) Tiêu chí 3: dữ liệu còn sau down rồi up. Có hai mảnh ghép. Một là named volume gắn vào /var/opt/mssql, nơi SQL Server lưu mọi thứ, nên xóa container cũng không mất. Hai là db-init: script init.sql có DROP TABLE, nếu chạy mỗi lần up sẽ xóa sạch dữ liệu, nên em cho nó kiểm tra database đã tồn tại chưa. Lưu ý: down giữ dữ liệu, còn down -v xóa luôn volume. Em đã test: tạo môn DK01, down, up, môn vẫn còn.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phút) Tiêu chí 4. Mật khẩu thật chỉ nằm trong .env, có trong .gitignore và .dockerignore. Repo chỉ có .env.example với giá trị mẫu. Lúc kiểm thử em phát hiện .env trên máy đang dùng đúng giá trị mẫu. Repo vẫn sạch, nhưng mật khẩu này ai cũng biết, nên em sẽ đổi sang mật khẩu riêng. Lưu ý: SQL Server chỉ nhận mật khẩu ở lần khởi tạo đầu, nên đổi mật khẩu phải dùng ALTER LOGIN hoặc xóa volume.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phút demo) Mở PowerShell ở thư mục TestManager-AspNet. Chạy lần lượt: up -d và ps để thấy 3 container; curl /health ra 200; stop db rồi curl ra 503 sau vài giây; start db, đợi khoảng 10 giây, curl lại ra 200; down rồi up, mở Swagger thấy dữ liệu cũ. Lệnh 5 in ra connection string có mật khẩu, nên đừng chiếu lên màn hình, hoặc chỉ cho xem phần Server=db,1433.</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marL="0" indent="0">
              <a:buNone/>
            </a:pPr>
            <a:r>
              <a:rPr lang="en-US" sz="1000" dirty="0">
                <a:solidFill>
                  <a:schemeClr val="accent5"/>
                </a:solidFill>
              </a:rPr>
              <a:t>TestManager API · Tuần 1 · Bài 21/10: Cấu hình, health check, Compose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10698480" cy="1463040"/>
          </a:xfrm>
          <a:prstGeom prst="rect">
            <a:avLst/>
          </a:prstGeom>
          <a:noFill/>
          <a:ln/>
        </p:spPr>
        <p:txBody>
          <a:bodyPr wrap="square" lIns="0" tIns="0" rIns="0" bIns="0" rtlCol="0" anchor="b"/>
          <a:lstStyle/>
          <a:p>
            <a:pPr marL="0" indent="0" algn="l">
              <a:buNone/>
            </a:pPr>
            <a:r>
              <a:rPr lang="en-US" sz="4400" b="1" dirty="0">
                <a:solidFill>
                  <a:schemeClr val="bg1"/>
                </a:solidFill>
              </a:rPr>
              <a:t>Cấu hình, health check và Docker Compose</a:t>
            </a:r>
            <a:endParaRPr lang="en-US" sz="4400" dirty="0"/>
          </a:p>
        </p:txBody>
      </p:sp>
      <p:sp>
        <p:nvSpPr>
          <p:cNvPr id="3" name="Text 0"/>
          <p:cNvSpPr>
            <a:spLocks noGrp="1"/>
          </p:cNvSpPr>
          <p:nvPr>
            <p:ph type="body" idx="101" hasCustomPrompt="1"/>
          </p:nvPr>
        </p:nvSpPr>
        <p:spPr>
          <a:xfrm>
            <a:off x="731520" y="3749040"/>
            <a:ext cx="10698480" cy="1097280"/>
          </a:xfrm>
          <a:prstGeom prst="rect">
            <a:avLst/>
          </a:prstGeom>
          <a:noFill/>
          <a:ln/>
        </p:spPr>
        <p:txBody>
          <a:bodyPr wrap="square" lIns="0" tIns="0" rIns="0" bIns="0" rtlCol="0" anchor="t"/>
          <a:lstStyle/>
          <a:p>
            <a:pPr marL="0" indent="0" algn="l">
              <a:buNone/>
            </a:pPr>
            <a:r>
              <a:rPr lang="en-US" sz="2000" dirty="0">
                <a:solidFill>
                  <a:schemeClr val="bg2"/>
                </a:solidFill>
              </a:rPr>
              <a:t>Chạy TestManager API + SQL Server 2022 cùng lúc bằng một lệnh: docker compose up</a:t>
            </a:r>
            <a:endParaRPr lang="en-US" sz="2000" dirty="0"/>
          </a:p>
        </p:txBody>
      </p:sp>
      <p:sp>
        <p:nvSpPr>
          <p:cNvPr id="4" name="eyebrow-bg"/>
          <p:cNvSpPr/>
          <p:nvPr/>
        </p:nvSpPr>
        <p:spPr>
          <a:xfrm>
            <a:off x="731520" y="1371600"/>
            <a:ext cx="3108960" cy="347472"/>
          </a:xfrm>
          <a:prstGeom prst="roundRect">
            <a:avLst>
              <a:gd name="adj" fmla="val 50000"/>
            </a:avLst>
          </a:prstGeom>
          <a:solidFill>
            <a:schemeClr val="accent3"/>
          </a:solidFill>
          <a:ln w="12700">
            <a:solidFill>
              <a:schemeClr val="accent3"/>
            </a:solidFill>
            <a:prstDash val="solid"/>
          </a:ln>
        </p:spPr>
        <p:txBody>
          <a:bodyPr/>
          <a:lstStyle/>
          <a:p>
            <a:endParaRPr lang="en-US"/>
          </a:p>
        </p:txBody>
      </p:sp>
      <p:sp>
        <p:nvSpPr>
          <p:cNvPr id="5" name="eyebrow"/>
          <p:cNvSpPr txBox="1"/>
          <p:nvPr/>
        </p:nvSpPr>
        <p:spPr>
          <a:xfrm>
            <a:off x="731520" y="1371600"/>
            <a:ext cx="3108960" cy="347472"/>
          </a:xfrm>
          <a:prstGeom prst="rect">
            <a:avLst/>
          </a:prstGeom>
          <a:noFill/>
          <a:ln/>
        </p:spPr>
        <p:txBody>
          <a:bodyPr wrap="square" lIns="0" tIns="0" rIns="0" bIns="0" rtlCol="0" anchor="ctr"/>
          <a:lstStyle/>
          <a:p>
            <a:pPr marL="0" indent="0" algn="ctr">
              <a:buNone/>
            </a:pPr>
            <a:r>
              <a:rPr lang="en-US" sz="1200" b="1" dirty="0">
                <a:solidFill>
                  <a:schemeClr val="tx1"/>
                </a:solidFill>
              </a:rPr>
              <a:t>TUẦN 1 · DOCKER · BÀI 21/10</a:t>
            </a:r>
            <a:endParaRPr lang="en-US" sz="1200" dirty="0"/>
          </a:p>
        </p:txBody>
      </p:sp>
      <p:sp>
        <p:nvSpPr>
          <p:cNvPr id="6" name="byline"/>
          <p:cNvSpPr txBox="1"/>
          <p:nvPr/>
        </p:nvSpPr>
        <p:spPr>
          <a:xfrm>
            <a:off x="731520" y="5943600"/>
            <a:ext cx="7315200" cy="365760"/>
          </a:xfrm>
          <a:prstGeom prst="rect">
            <a:avLst/>
          </a:prstGeom>
          <a:noFill/>
          <a:ln/>
        </p:spPr>
        <p:txBody>
          <a:bodyPr wrap="square" lIns="0" tIns="0" rIns="0" bIns="0" rtlCol="0" anchor="ctr"/>
          <a:lstStyle/>
          <a:p>
            <a:pPr marL="0" indent="0">
              <a:buNone/>
            </a:pPr>
            <a:r>
              <a:rPr lang="en-US" sz="1400" dirty="0">
                <a:solidFill>
                  <a:schemeClr val="bg2"/>
                </a:solidFill>
              </a:rPr>
              <a:t>[Tên bạn] · Team SBU3 · 22/10/2026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Mục tiêu và 4 tiêu chí của đề: đạt cả 4</a:t>
            </a:r>
            <a:endParaRPr lang="en-US" sz="3200" dirty="0"/>
          </a:p>
        </p:txBody>
      </p:sp>
      <p:sp>
        <p:nvSpPr>
          <p:cNvPr id="3" name="goal-card"/>
          <p:cNvSpPr/>
          <p:nvPr/>
        </p:nvSpPr>
        <p:spPr>
          <a:xfrm>
            <a:off x="548640" y="1371600"/>
            <a:ext cx="3931920" cy="4754880"/>
          </a:xfrm>
          <a:prstGeom prst="roundRect">
            <a:avLst>
              <a:gd name="adj" fmla="val 1860"/>
            </a:avLst>
          </a:prstGeom>
          <a:solidFill>
            <a:schemeClr val="tx2"/>
          </a:solidFill>
          <a:ln w="12700">
            <a:solidFill>
              <a:schemeClr val="tx2"/>
            </a:solidFill>
            <a:prstDash val="solid"/>
          </a:ln>
        </p:spPr>
        <p:txBody>
          <a:bodyPr/>
          <a:lstStyle/>
          <a:p>
            <a:endParaRPr lang="en-US"/>
          </a:p>
        </p:txBody>
      </p:sp>
      <p:sp>
        <p:nvSpPr>
          <p:cNvPr id="4" name="goal-stat"/>
          <p:cNvSpPr txBox="1"/>
          <p:nvPr/>
        </p:nvSpPr>
        <p:spPr>
          <a:xfrm>
            <a:off x="868680" y="1737360"/>
            <a:ext cx="3291840" cy="1188720"/>
          </a:xfrm>
          <a:prstGeom prst="rect">
            <a:avLst/>
          </a:prstGeom>
          <a:noFill/>
          <a:ln/>
        </p:spPr>
        <p:txBody>
          <a:bodyPr wrap="square" lIns="0" tIns="0" rIns="0" bIns="0" rtlCol="0" anchor="ctr"/>
          <a:lstStyle/>
          <a:p>
            <a:pPr marL="0" indent="0">
              <a:buNone/>
            </a:pPr>
            <a:r>
              <a:rPr lang="en-US" sz="7200" b="1" dirty="0">
                <a:solidFill>
                  <a:schemeClr val="accent1"/>
                </a:solidFill>
                <a:latin typeface="Cambria" pitchFamily="34" charset="0"/>
                <a:ea typeface="Cambria" pitchFamily="34" charset="-122"/>
                <a:cs typeface="Cambria" pitchFamily="34" charset="-120"/>
              </a:rPr>
              <a:t>4/4</a:t>
            </a:r>
            <a:endParaRPr lang="en-US" sz="7200" dirty="0"/>
          </a:p>
        </p:txBody>
      </p:sp>
      <p:sp>
        <p:nvSpPr>
          <p:cNvPr id="5" name="goal-stat-label"/>
          <p:cNvSpPr txBox="1"/>
          <p:nvPr/>
        </p:nvSpPr>
        <p:spPr>
          <a:xfrm>
            <a:off x="868680" y="2971800"/>
            <a:ext cx="3291840" cy="914400"/>
          </a:xfrm>
          <a:prstGeom prst="rect">
            <a:avLst/>
          </a:prstGeom>
          <a:noFill/>
          <a:ln/>
        </p:spPr>
        <p:txBody>
          <a:bodyPr wrap="square" lIns="0" tIns="0" rIns="0" bIns="0" rtlCol="0" anchor="ctr"/>
          <a:lstStyle/>
          <a:p>
            <a:pPr marL="0" indent="0">
              <a:buNone/>
            </a:pPr>
            <a:r>
              <a:rPr lang="en-US" sz="1600" dirty="0">
                <a:solidFill>
                  <a:schemeClr val="bg1"/>
                </a:solidFill>
              </a:rPr>
              <a:t>tiêu chí bắt buộc đạt, cộng thêm phần nâng cao: healthcheck cho service db</a:t>
            </a:r>
            <a:endParaRPr lang="en-US" sz="1600" dirty="0"/>
          </a:p>
        </p:txBody>
      </p:sp>
      <p:sp>
        <p:nvSpPr>
          <p:cNvPr id="6" name="goal-output"/>
          <p:cNvSpPr txBox="1"/>
          <p:nvPr/>
        </p:nvSpPr>
        <p:spPr>
          <a:xfrm>
            <a:off x="868680" y="4846320"/>
            <a:ext cx="3291840" cy="914400"/>
          </a:xfrm>
          <a:prstGeom prst="rect">
            <a:avLst/>
          </a:prstGeom>
          <a:noFill/>
          <a:ln/>
        </p:spPr>
        <p:txBody>
          <a:bodyPr wrap="square" lIns="0" tIns="0" rIns="0" bIns="0" rtlCol="0" anchor="ctr"/>
          <a:lstStyle/>
          <a:p>
            <a:pPr marL="0" indent="0">
              <a:buNone/>
            </a:pPr>
            <a:r>
              <a:rPr lang="en-US" sz="1400" i="1" dirty="0">
                <a:solidFill>
                  <a:schemeClr val="bg2"/>
                </a:solidFill>
              </a:rPr>
              <a:t>Output nộp: docker-compose.yml, .env.example, endpoint /health</a:t>
            </a:r>
            <a:endParaRPr lang="en-US" sz="1400" dirty="0"/>
          </a:p>
        </p:txBody>
      </p:sp>
      <p:sp>
        <p:nvSpPr>
          <p:cNvPr id="7" name="crit0-card"/>
          <p:cNvSpPr/>
          <p:nvPr/>
        </p:nvSpPr>
        <p:spPr>
          <a:xfrm>
            <a:off x="4846320" y="1371600"/>
            <a:ext cx="6766560" cy="100584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8" name="crit0-num-bg"/>
          <p:cNvSpPr/>
          <p:nvPr/>
        </p:nvSpPr>
        <p:spPr>
          <a:xfrm>
            <a:off x="5074920" y="164592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9" name="crit0-num"/>
          <p:cNvSpPr txBox="1"/>
          <p:nvPr/>
        </p:nvSpPr>
        <p:spPr>
          <a:xfrm>
            <a:off x="5074920" y="16459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10" name="crit0-text"/>
          <p:cNvSpPr txBox="1"/>
          <p:nvPr/>
        </p:nvSpPr>
        <p:spPr>
          <a:xfrm>
            <a:off x="5715000" y="1508760"/>
            <a:ext cx="4754880" cy="411480"/>
          </a:xfrm>
          <a:prstGeom prst="rect">
            <a:avLst/>
          </a:prstGeom>
          <a:noFill/>
          <a:ln/>
        </p:spPr>
        <p:txBody>
          <a:bodyPr wrap="square" lIns="0" tIns="0" rIns="0" bIns="0" rtlCol="0" anchor="ctr"/>
          <a:lstStyle/>
          <a:p>
            <a:pPr marL="0" indent="0">
              <a:buNone/>
            </a:pPr>
            <a:r>
              <a:rPr lang="en-US" sz="1600" b="1" dirty="0">
                <a:solidFill>
                  <a:schemeClr val="tx1"/>
                </a:solidFill>
              </a:rPr>
              <a:t>docker compose up -d cho 2 container running</a:t>
            </a:r>
            <a:endParaRPr lang="en-US" sz="1600" dirty="0"/>
          </a:p>
        </p:txBody>
      </p:sp>
      <p:sp>
        <p:nvSpPr>
          <p:cNvPr id="11" name="crit0-result"/>
          <p:cNvSpPr txBox="1"/>
          <p:nvPr/>
        </p:nvSpPr>
        <p:spPr>
          <a:xfrm>
            <a:off x="5715000" y="1920240"/>
            <a:ext cx="4572000" cy="320040"/>
          </a:xfrm>
          <a:prstGeom prst="rect">
            <a:avLst/>
          </a:prstGeom>
          <a:noFill/>
          <a:ln/>
        </p:spPr>
        <p:txBody>
          <a:bodyPr wrap="square" lIns="0" tIns="0" rIns="0" bIns="0" rtlCol="0" anchor="ctr"/>
          <a:lstStyle/>
          <a:p>
            <a:pPr marL="0" indent="0">
              <a:buNone/>
            </a:pPr>
            <a:r>
              <a:rPr lang="en-US" sz="1300" dirty="0">
                <a:solidFill>
                  <a:schemeClr val="accent5"/>
                </a:solidFill>
              </a:rPr>
              <a:t>api Up · db Up (healthy)</a:t>
            </a:r>
            <a:endParaRPr lang="en-US" sz="1300" dirty="0"/>
          </a:p>
        </p:txBody>
      </p:sp>
      <p:sp>
        <p:nvSpPr>
          <p:cNvPr id="12" name="crit0-pill-bg"/>
          <p:cNvSpPr/>
          <p:nvPr/>
        </p:nvSpPr>
        <p:spPr>
          <a:xfrm>
            <a:off x="10561320" y="1700784"/>
            <a:ext cx="868680" cy="347472"/>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3" name="crit0-pill"/>
          <p:cNvSpPr txBox="1"/>
          <p:nvPr/>
        </p:nvSpPr>
        <p:spPr>
          <a:xfrm>
            <a:off x="10561320" y="1700784"/>
            <a:ext cx="868680" cy="347472"/>
          </a:xfrm>
          <a:prstGeom prst="rect">
            <a:avLst/>
          </a:prstGeom>
          <a:noFill/>
          <a:ln/>
        </p:spPr>
        <p:txBody>
          <a:bodyPr wrap="square" lIns="0" tIns="0" rIns="0" bIns="0" rtlCol="0" anchor="ctr"/>
          <a:lstStyle/>
          <a:p>
            <a:pPr marL="0" indent="0" algn="ctr">
              <a:buNone/>
            </a:pPr>
            <a:r>
              <a:rPr lang="en-US" sz="1200" b="1" dirty="0">
                <a:solidFill>
                  <a:schemeClr val="bg1"/>
                </a:solidFill>
              </a:rPr>
              <a:t>ĐẠT</a:t>
            </a:r>
            <a:endParaRPr lang="en-US" sz="1200" dirty="0"/>
          </a:p>
        </p:txBody>
      </p:sp>
      <p:sp>
        <p:nvSpPr>
          <p:cNvPr id="14" name="crit1-card"/>
          <p:cNvSpPr/>
          <p:nvPr/>
        </p:nvSpPr>
        <p:spPr>
          <a:xfrm>
            <a:off x="4846320" y="2560320"/>
            <a:ext cx="6766560" cy="100584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15" name="crit1-num-bg"/>
          <p:cNvSpPr/>
          <p:nvPr/>
        </p:nvSpPr>
        <p:spPr>
          <a:xfrm>
            <a:off x="5074920" y="283464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16" name="crit1-num"/>
          <p:cNvSpPr txBox="1"/>
          <p:nvPr/>
        </p:nvSpPr>
        <p:spPr>
          <a:xfrm>
            <a:off x="5074920" y="28346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7" name="crit1-text"/>
          <p:cNvSpPr txBox="1"/>
          <p:nvPr/>
        </p:nvSpPr>
        <p:spPr>
          <a:xfrm>
            <a:off x="5715000" y="2697480"/>
            <a:ext cx="4754880" cy="411480"/>
          </a:xfrm>
          <a:prstGeom prst="rect">
            <a:avLst/>
          </a:prstGeom>
          <a:noFill/>
          <a:ln/>
        </p:spPr>
        <p:txBody>
          <a:bodyPr wrap="square" lIns="0" tIns="0" rIns="0" bIns="0" rtlCol="0" anchor="ctr"/>
          <a:lstStyle/>
          <a:p>
            <a:pPr marL="0" indent="0">
              <a:buNone/>
            </a:pPr>
            <a:r>
              <a:rPr lang="en-US" sz="1600" b="1" dirty="0">
                <a:solidFill>
                  <a:schemeClr val="tx1"/>
                </a:solidFill>
              </a:rPr>
              <a:t>/health Healthy khi DB chạy, Unhealthy sau stop db</a:t>
            </a:r>
            <a:endParaRPr lang="en-US" sz="1600" dirty="0"/>
          </a:p>
        </p:txBody>
      </p:sp>
      <p:sp>
        <p:nvSpPr>
          <p:cNvPr id="18" name="crit1-result"/>
          <p:cNvSpPr txBox="1"/>
          <p:nvPr/>
        </p:nvSpPr>
        <p:spPr>
          <a:xfrm>
            <a:off x="5715000" y="3108960"/>
            <a:ext cx="4572000" cy="320040"/>
          </a:xfrm>
          <a:prstGeom prst="rect">
            <a:avLst/>
          </a:prstGeom>
          <a:noFill/>
          <a:ln/>
        </p:spPr>
        <p:txBody>
          <a:bodyPr wrap="square" lIns="0" tIns="0" rIns="0" bIns="0" rtlCol="0" anchor="ctr"/>
          <a:lstStyle/>
          <a:p>
            <a:pPr marL="0" indent="0">
              <a:buNone/>
            </a:pPr>
            <a:r>
              <a:rPr lang="en-US" sz="1300" dirty="0">
                <a:solidFill>
                  <a:schemeClr val="accent5"/>
                </a:solidFill>
              </a:rPr>
              <a:t>200 Healthy → 503 Unhealthy</a:t>
            </a:r>
            <a:endParaRPr lang="en-US" sz="1300" dirty="0"/>
          </a:p>
        </p:txBody>
      </p:sp>
      <p:sp>
        <p:nvSpPr>
          <p:cNvPr id="19" name="crit1-pill-bg"/>
          <p:cNvSpPr/>
          <p:nvPr/>
        </p:nvSpPr>
        <p:spPr>
          <a:xfrm>
            <a:off x="10561320" y="2889504"/>
            <a:ext cx="868680" cy="347472"/>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0" name="crit1-pill"/>
          <p:cNvSpPr txBox="1"/>
          <p:nvPr/>
        </p:nvSpPr>
        <p:spPr>
          <a:xfrm>
            <a:off x="10561320" y="2889504"/>
            <a:ext cx="868680" cy="347472"/>
          </a:xfrm>
          <a:prstGeom prst="rect">
            <a:avLst/>
          </a:prstGeom>
          <a:noFill/>
          <a:ln/>
        </p:spPr>
        <p:txBody>
          <a:bodyPr wrap="square" lIns="0" tIns="0" rIns="0" bIns="0" rtlCol="0" anchor="ctr"/>
          <a:lstStyle/>
          <a:p>
            <a:pPr marL="0" indent="0" algn="ctr">
              <a:buNone/>
            </a:pPr>
            <a:r>
              <a:rPr lang="en-US" sz="1200" b="1" dirty="0">
                <a:solidFill>
                  <a:schemeClr val="bg1"/>
                </a:solidFill>
              </a:rPr>
              <a:t>ĐẠT</a:t>
            </a:r>
            <a:endParaRPr lang="en-US" sz="1200" dirty="0"/>
          </a:p>
        </p:txBody>
      </p:sp>
      <p:sp>
        <p:nvSpPr>
          <p:cNvPr id="21" name="crit2-card"/>
          <p:cNvSpPr/>
          <p:nvPr/>
        </p:nvSpPr>
        <p:spPr>
          <a:xfrm>
            <a:off x="4846320" y="3749040"/>
            <a:ext cx="6766560" cy="100584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22" name="crit2-num-bg"/>
          <p:cNvSpPr/>
          <p:nvPr/>
        </p:nvSpPr>
        <p:spPr>
          <a:xfrm>
            <a:off x="5074920" y="402336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23" name="crit2-num"/>
          <p:cNvSpPr txBox="1"/>
          <p:nvPr/>
        </p:nvSpPr>
        <p:spPr>
          <a:xfrm>
            <a:off x="5074920" y="402336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24" name="crit2-text"/>
          <p:cNvSpPr txBox="1"/>
          <p:nvPr/>
        </p:nvSpPr>
        <p:spPr>
          <a:xfrm>
            <a:off x="5715000" y="3886200"/>
            <a:ext cx="4754880" cy="411480"/>
          </a:xfrm>
          <a:prstGeom prst="rect">
            <a:avLst/>
          </a:prstGeom>
          <a:noFill/>
          <a:ln/>
        </p:spPr>
        <p:txBody>
          <a:bodyPr wrap="square" lIns="0" tIns="0" rIns="0" bIns="0" rtlCol="0" anchor="ctr"/>
          <a:lstStyle/>
          <a:p>
            <a:pPr marL="0" indent="0">
              <a:buNone/>
            </a:pPr>
            <a:r>
              <a:rPr lang="en-US" sz="1600" b="1" dirty="0">
                <a:solidFill>
                  <a:schemeClr val="tx1"/>
                </a:solidFill>
              </a:rPr>
              <a:t>docker compose down rồi up lại: dữ liệu cũ vẫn còn</a:t>
            </a:r>
            <a:endParaRPr lang="en-US" sz="1600" dirty="0"/>
          </a:p>
        </p:txBody>
      </p:sp>
      <p:sp>
        <p:nvSpPr>
          <p:cNvPr id="25" name="crit2-result"/>
          <p:cNvSpPr txBox="1"/>
          <p:nvPr/>
        </p:nvSpPr>
        <p:spPr>
          <a:xfrm>
            <a:off x="5715000" y="4297680"/>
            <a:ext cx="4572000" cy="320040"/>
          </a:xfrm>
          <a:prstGeom prst="rect">
            <a:avLst/>
          </a:prstGeom>
          <a:noFill/>
          <a:ln/>
        </p:spPr>
        <p:txBody>
          <a:bodyPr wrap="square" lIns="0" tIns="0" rIns="0" bIns="0" rtlCol="0" anchor="ctr"/>
          <a:lstStyle/>
          <a:p>
            <a:pPr marL="0" indent="0">
              <a:buNone/>
            </a:pPr>
            <a:endParaRPr lang="en-US" sz="1300" dirty="0"/>
          </a:p>
        </p:txBody>
      </p:sp>
      <p:sp>
        <p:nvSpPr>
          <p:cNvPr id="26" name="crit2-pill-bg"/>
          <p:cNvSpPr/>
          <p:nvPr/>
        </p:nvSpPr>
        <p:spPr>
          <a:xfrm>
            <a:off x="10561320" y="4078224"/>
            <a:ext cx="868680" cy="347472"/>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7" name="crit2-pill"/>
          <p:cNvSpPr txBox="1"/>
          <p:nvPr/>
        </p:nvSpPr>
        <p:spPr>
          <a:xfrm>
            <a:off x="10561320" y="4078224"/>
            <a:ext cx="868680" cy="347472"/>
          </a:xfrm>
          <a:prstGeom prst="rect">
            <a:avLst/>
          </a:prstGeom>
          <a:noFill/>
          <a:ln/>
        </p:spPr>
        <p:txBody>
          <a:bodyPr wrap="square" lIns="0" tIns="0" rIns="0" bIns="0" rtlCol="0" anchor="ctr"/>
          <a:lstStyle/>
          <a:p>
            <a:pPr marL="0" indent="0" algn="ctr">
              <a:buNone/>
            </a:pPr>
            <a:r>
              <a:rPr lang="en-US" sz="1200" b="1" dirty="0">
                <a:solidFill>
                  <a:schemeClr val="bg1"/>
                </a:solidFill>
              </a:rPr>
              <a:t>ĐẠT</a:t>
            </a:r>
            <a:endParaRPr lang="en-US" sz="1200" dirty="0"/>
          </a:p>
        </p:txBody>
      </p:sp>
      <p:sp>
        <p:nvSpPr>
          <p:cNvPr id="28" name="crit3-card"/>
          <p:cNvSpPr/>
          <p:nvPr/>
        </p:nvSpPr>
        <p:spPr>
          <a:xfrm>
            <a:off x="4846320" y="4937760"/>
            <a:ext cx="6766560" cy="1005840"/>
          </a:xfrm>
          <a:prstGeom prst="roundRect">
            <a:avLst>
              <a:gd name="adj" fmla="val 7273"/>
            </a:avLst>
          </a:prstGeom>
          <a:solidFill>
            <a:schemeClr val="bg2"/>
          </a:solidFill>
          <a:ln w="12700">
            <a:solidFill>
              <a:schemeClr val="bg2"/>
            </a:solidFill>
            <a:prstDash val="solid"/>
          </a:ln>
        </p:spPr>
        <p:txBody>
          <a:bodyPr/>
          <a:lstStyle/>
          <a:p>
            <a:endParaRPr lang="en-US"/>
          </a:p>
        </p:txBody>
      </p:sp>
      <p:sp>
        <p:nvSpPr>
          <p:cNvPr id="29" name="crit3-num-bg"/>
          <p:cNvSpPr/>
          <p:nvPr/>
        </p:nvSpPr>
        <p:spPr>
          <a:xfrm>
            <a:off x="5074920" y="5212080"/>
            <a:ext cx="457200" cy="457200"/>
          </a:xfrm>
          <a:prstGeom prst="ellipse">
            <a:avLst/>
          </a:prstGeom>
          <a:solidFill>
            <a:schemeClr val="accent1"/>
          </a:solidFill>
          <a:ln w="12700">
            <a:solidFill>
              <a:schemeClr val="accent1"/>
            </a:solidFill>
            <a:prstDash val="solid"/>
          </a:ln>
        </p:spPr>
        <p:txBody>
          <a:bodyPr/>
          <a:lstStyle/>
          <a:p>
            <a:endParaRPr lang="en-US"/>
          </a:p>
        </p:txBody>
      </p:sp>
      <p:sp>
        <p:nvSpPr>
          <p:cNvPr id="30" name="crit3-num"/>
          <p:cNvSpPr txBox="1"/>
          <p:nvPr/>
        </p:nvSpPr>
        <p:spPr>
          <a:xfrm>
            <a:off x="5074920" y="52120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31" name="crit3-text"/>
          <p:cNvSpPr txBox="1"/>
          <p:nvPr/>
        </p:nvSpPr>
        <p:spPr>
          <a:xfrm>
            <a:off x="5715000" y="5074920"/>
            <a:ext cx="4754880" cy="411480"/>
          </a:xfrm>
          <a:prstGeom prst="rect">
            <a:avLst/>
          </a:prstGeom>
          <a:noFill/>
          <a:ln/>
        </p:spPr>
        <p:txBody>
          <a:bodyPr wrap="square" lIns="0" tIns="0" rIns="0" bIns="0" rtlCol="0" anchor="ctr"/>
          <a:lstStyle/>
          <a:p>
            <a:pPr marL="0" indent="0">
              <a:buNone/>
            </a:pPr>
            <a:r>
              <a:rPr lang="en-US" sz="1600" b="1" dirty="0">
                <a:solidFill>
                  <a:schemeClr val="tx1"/>
                </a:solidFill>
              </a:rPr>
              <a:t>.env trong .gitignore, repo không chứa mật khẩu</a:t>
            </a:r>
            <a:endParaRPr lang="en-US" sz="1600" dirty="0"/>
          </a:p>
        </p:txBody>
      </p:sp>
      <p:sp>
        <p:nvSpPr>
          <p:cNvPr id="32" name="crit3-result"/>
          <p:cNvSpPr txBox="1"/>
          <p:nvPr/>
        </p:nvSpPr>
        <p:spPr>
          <a:xfrm>
            <a:off x="5715000" y="5486400"/>
            <a:ext cx="4572000" cy="320040"/>
          </a:xfrm>
          <a:prstGeom prst="rect">
            <a:avLst/>
          </a:prstGeom>
          <a:noFill/>
          <a:ln/>
        </p:spPr>
        <p:txBody>
          <a:bodyPr wrap="square" lIns="0" tIns="0" rIns="0" bIns="0" rtlCol="0" anchor="ctr"/>
          <a:lstStyle/>
          <a:p>
            <a:pPr marL="0" indent="0">
              <a:buNone/>
            </a:pPr>
            <a:r>
              <a:rPr lang="en-US" sz="1300" dirty="0">
                <a:solidFill>
                  <a:schemeClr val="accent5"/>
                </a:solidFill>
              </a:rPr>
              <a:t>.gitignore:382 · .env không bị track</a:t>
            </a:r>
            <a:endParaRPr lang="en-US" sz="1300" dirty="0"/>
          </a:p>
        </p:txBody>
      </p:sp>
      <p:sp>
        <p:nvSpPr>
          <p:cNvPr id="33" name="crit3-pill-bg"/>
          <p:cNvSpPr/>
          <p:nvPr/>
        </p:nvSpPr>
        <p:spPr>
          <a:xfrm>
            <a:off x="10561320" y="5266944"/>
            <a:ext cx="868680" cy="347472"/>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34" name="crit3-pill"/>
          <p:cNvSpPr txBox="1"/>
          <p:nvPr/>
        </p:nvSpPr>
        <p:spPr>
          <a:xfrm>
            <a:off x="10561320" y="5266944"/>
            <a:ext cx="868680" cy="347472"/>
          </a:xfrm>
          <a:prstGeom prst="rect">
            <a:avLst/>
          </a:prstGeom>
          <a:noFill/>
          <a:ln/>
        </p:spPr>
        <p:txBody>
          <a:bodyPr wrap="square" lIns="0" tIns="0" rIns="0" bIns="0" rtlCol="0" anchor="ctr"/>
          <a:lstStyle/>
          <a:p>
            <a:pPr marL="0" indent="0" algn="ctr">
              <a:buNone/>
            </a:pPr>
            <a:r>
              <a:rPr lang="en-US" sz="1200" b="1" dirty="0">
                <a:solidFill>
                  <a:schemeClr val="bg1"/>
                </a:solidFill>
              </a:rPr>
              <a:t>ĐẠT</a:t>
            </a:r>
            <a:endParaRPr lang="en-US" sz="1200" dirty="0"/>
          </a:p>
        </p:txBody>
      </p:sp>
      <p:sp>
        <p:nvSpPr>
          <p:cNvPr id="3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Ba service trong một mạng, một volume giữ dữ liệu</a:t>
            </a:r>
            <a:endParaRPr lang="en-US" sz="3200" dirty="0"/>
          </a:p>
        </p:txBody>
      </p:sp>
      <p:sp>
        <p:nvSpPr>
          <p:cNvPr id="3" name="network"/>
          <p:cNvSpPr/>
          <p:nvPr/>
        </p:nvSpPr>
        <p:spPr>
          <a:xfrm>
            <a:off x="548640" y="1325880"/>
            <a:ext cx="11064240" cy="4846320"/>
          </a:xfrm>
          <a:prstGeom prst="roundRect">
            <a:avLst>
              <a:gd name="adj" fmla="val 1887"/>
            </a:avLst>
          </a:prstGeom>
          <a:solidFill>
            <a:schemeClr val="bg2"/>
          </a:solidFill>
          <a:ln w="12700">
            <a:solidFill>
              <a:schemeClr val="accent5"/>
            </a:solidFill>
            <a:prstDash val="dash"/>
          </a:ln>
        </p:spPr>
        <p:txBody>
          <a:bodyPr/>
          <a:lstStyle/>
          <a:p>
            <a:endParaRPr lang="en-US"/>
          </a:p>
        </p:txBody>
      </p:sp>
      <p:sp>
        <p:nvSpPr>
          <p:cNvPr id="4" name="network-label"/>
          <p:cNvSpPr txBox="1"/>
          <p:nvPr/>
        </p:nvSpPr>
        <p:spPr>
          <a:xfrm>
            <a:off x="822960" y="1463040"/>
            <a:ext cx="8229600" cy="320040"/>
          </a:xfrm>
          <a:prstGeom prst="rect">
            <a:avLst/>
          </a:prstGeom>
          <a:noFill/>
          <a:ln/>
        </p:spPr>
        <p:txBody>
          <a:bodyPr wrap="square" lIns="0" tIns="0" rIns="0" bIns="0" rtlCol="0" anchor="ctr"/>
          <a:lstStyle/>
          <a:p>
            <a:pPr marL="0" indent="0">
              <a:buNone/>
            </a:pPr>
            <a:r>
              <a:rPr lang="en-US" sz="1200" i="1" dirty="0">
                <a:solidFill>
                  <a:schemeClr val="accent5"/>
                </a:solidFill>
              </a:rPr>
              <a:t>network: testmanager-aspnet_default · Docker Desktop (Linux containers, WSL2)</a:t>
            </a:r>
            <a:endParaRPr lang="en-US" sz="1200" dirty="0"/>
          </a:p>
        </p:txBody>
      </p:sp>
      <p:sp>
        <p:nvSpPr>
          <p:cNvPr id="5" name="port-api-bg"/>
          <p:cNvSpPr/>
          <p:nvPr/>
        </p:nvSpPr>
        <p:spPr>
          <a:xfrm>
            <a:off x="1371600" y="1965960"/>
            <a:ext cx="2377440" cy="347472"/>
          </a:xfrm>
          <a:prstGeom prst="roundRect">
            <a:avLst>
              <a:gd name="adj" fmla="val 50000"/>
            </a:avLst>
          </a:prstGeom>
          <a:solidFill>
            <a:schemeClr val="tx1"/>
          </a:solidFill>
          <a:ln w="12700">
            <a:solidFill>
              <a:schemeClr val="tx1"/>
            </a:solidFill>
            <a:prstDash val="solid"/>
          </a:ln>
        </p:spPr>
        <p:txBody>
          <a:bodyPr/>
          <a:lstStyle/>
          <a:p>
            <a:endParaRPr lang="en-US"/>
          </a:p>
        </p:txBody>
      </p:sp>
      <p:sp>
        <p:nvSpPr>
          <p:cNvPr id="6" name="port-api"/>
          <p:cNvSpPr txBox="1"/>
          <p:nvPr/>
        </p:nvSpPr>
        <p:spPr>
          <a:xfrm>
            <a:off x="1371600" y="1965960"/>
            <a:ext cx="2377440" cy="347472"/>
          </a:xfrm>
          <a:prstGeom prst="rect">
            <a:avLst/>
          </a:prstGeom>
          <a:noFill/>
          <a:ln/>
        </p:spPr>
        <p:txBody>
          <a:bodyPr wrap="square" lIns="0" tIns="0" rIns="0" bIns="0" rtlCol="0" anchor="ctr"/>
          <a:lstStyle/>
          <a:p>
            <a:pPr marL="0" indent="0" algn="ctr">
              <a:buNone/>
            </a:pPr>
            <a:r>
              <a:rPr lang="en-US" sz="1200" b="1" dirty="0">
                <a:solidFill>
                  <a:schemeClr val="bg1"/>
                </a:solidFill>
              </a:rPr>
              <a:t>localhost:8080</a:t>
            </a:r>
            <a:endParaRPr lang="en-US" sz="1200" dirty="0"/>
          </a:p>
        </p:txBody>
      </p:sp>
      <p:sp>
        <p:nvSpPr>
          <p:cNvPr id="7" name="port-db-bg"/>
          <p:cNvSpPr/>
          <p:nvPr/>
        </p:nvSpPr>
        <p:spPr>
          <a:xfrm>
            <a:off x="7178040" y="1965960"/>
            <a:ext cx="2377440" cy="347472"/>
          </a:xfrm>
          <a:prstGeom prst="roundRect">
            <a:avLst>
              <a:gd name="adj" fmla="val 50000"/>
            </a:avLst>
          </a:prstGeom>
          <a:solidFill>
            <a:schemeClr val="tx1"/>
          </a:solidFill>
          <a:ln w="12700">
            <a:solidFill>
              <a:schemeClr val="tx1"/>
            </a:solidFill>
            <a:prstDash val="solid"/>
          </a:ln>
        </p:spPr>
        <p:txBody>
          <a:bodyPr/>
          <a:lstStyle/>
          <a:p>
            <a:endParaRPr lang="en-US"/>
          </a:p>
        </p:txBody>
      </p:sp>
      <p:sp>
        <p:nvSpPr>
          <p:cNvPr id="8" name="port-db"/>
          <p:cNvSpPr txBox="1"/>
          <p:nvPr/>
        </p:nvSpPr>
        <p:spPr>
          <a:xfrm>
            <a:off x="7178040" y="1965960"/>
            <a:ext cx="2377440" cy="347472"/>
          </a:xfrm>
          <a:prstGeom prst="rect">
            <a:avLst/>
          </a:prstGeom>
          <a:noFill/>
          <a:ln/>
        </p:spPr>
        <p:txBody>
          <a:bodyPr wrap="square" lIns="0" tIns="0" rIns="0" bIns="0" rtlCol="0" anchor="ctr"/>
          <a:lstStyle/>
          <a:p>
            <a:pPr marL="0" indent="0" algn="ctr">
              <a:buNone/>
            </a:pPr>
            <a:r>
              <a:rPr lang="en-US" sz="1200" b="1" dirty="0">
                <a:solidFill>
                  <a:schemeClr val="bg1"/>
                </a:solidFill>
              </a:rPr>
              <a:t>localhost,14333</a:t>
            </a:r>
            <a:endParaRPr lang="en-US" sz="1200" dirty="0"/>
          </a:p>
        </p:txBody>
      </p:sp>
      <p:sp>
        <p:nvSpPr>
          <p:cNvPr id="9" name="svc-api"/>
          <p:cNvSpPr/>
          <p:nvPr/>
        </p:nvSpPr>
        <p:spPr>
          <a:xfrm>
            <a:off x="914400" y="2514600"/>
            <a:ext cx="3291840" cy="1554480"/>
          </a:xfrm>
          <a:prstGeom prst="roundRect">
            <a:avLst>
              <a:gd name="adj" fmla="val 4706"/>
            </a:avLst>
          </a:prstGeom>
          <a:solidFill>
            <a:schemeClr val="tx2"/>
          </a:solidFill>
          <a:ln w="12700">
            <a:solidFill>
              <a:schemeClr val="tx2"/>
            </a:solidFill>
            <a:prstDash val="solid"/>
          </a:ln>
        </p:spPr>
        <p:txBody>
          <a:bodyPr/>
          <a:lstStyle/>
          <a:p>
            <a:endParaRPr lang="en-US"/>
          </a:p>
        </p:txBody>
      </p:sp>
      <p:sp>
        <p:nvSpPr>
          <p:cNvPr id="10" name="svc-api-text"/>
          <p:cNvSpPr txBox="1"/>
          <p:nvPr/>
        </p:nvSpPr>
        <p:spPr>
          <a:xfrm>
            <a:off x="1143000" y="2651760"/>
            <a:ext cx="2834640" cy="1280160"/>
          </a:xfrm>
          <a:prstGeom prst="rect">
            <a:avLst/>
          </a:prstGeom>
          <a:noFill/>
          <a:ln/>
        </p:spPr>
        <p:txBody>
          <a:bodyPr wrap="square" lIns="0" tIns="0" rIns="0" bIns="0" rtlCol="0" anchor="t"/>
          <a:lstStyle/>
          <a:p>
            <a:pPr marL="0" indent="0">
              <a:buNone/>
            </a:pPr>
            <a:r>
              <a:rPr lang="en-US" sz="2200" b="1" dirty="0">
                <a:solidFill>
                  <a:schemeClr val="bg1"/>
                </a:solidFill>
              </a:rPr>
              <a:t>api</a:t>
            </a:r>
            <a:endParaRPr lang="en-US" sz="2200" dirty="0"/>
          </a:p>
          <a:p>
            <a:pPr marL="0" indent="0">
              <a:buNone/>
            </a:pPr>
            <a:r>
              <a:rPr lang="en-US" sz="1300" dirty="0">
                <a:solidFill>
                  <a:schemeClr val="bg1"/>
                </a:solidFill>
              </a:rPr>
              <a:t>build: Dockerfile.linux</a:t>
            </a:r>
            <a:endParaRPr lang="en-US" sz="2200" dirty="0"/>
          </a:p>
          <a:p>
            <a:pPr marL="0" indent="0">
              <a:buNone/>
            </a:pPr>
            <a:r>
              <a:rPr lang="en-US" sz="1300" dirty="0">
                <a:solidFill>
                  <a:schemeClr val="bg1"/>
                </a:solidFill>
              </a:rPr>
              <a:t>/swagger · /health</a:t>
            </a:r>
            <a:endParaRPr lang="en-US" sz="2200" dirty="0"/>
          </a:p>
        </p:txBody>
      </p:sp>
      <p:sp>
        <p:nvSpPr>
          <p:cNvPr id="11" name="svc-db"/>
          <p:cNvSpPr/>
          <p:nvPr/>
        </p:nvSpPr>
        <p:spPr>
          <a:xfrm>
            <a:off x="6812280" y="2514600"/>
            <a:ext cx="3108960" cy="1554480"/>
          </a:xfrm>
          <a:prstGeom prst="roundRect">
            <a:avLst>
              <a:gd name="adj" fmla="val 4706"/>
            </a:avLst>
          </a:prstGeom>
          <a:solidFill>
            <a:schemeClr val="accent1"/>
          </a:solidFill>
          <a:ln w="12700">
            <a:solidFill>
              <a:schemeClr val="accent1"/>
            </a:solidFill>
            <a:prstDash val="solid"/>
          </a:ln>
        </p:spPr>
        <p:txBody>
          <a:bodyPr/>
          <a:lstStyle/>
          <a:p>
            <a:endParaRPr lang="en-US"/>
          </a:p>
        </p:txBody>
      </p:sp>
      <p:sp>
        <p:nvSpPr>
          <p:cNvPr id="12" name="svc-db-text"/>
          <p:cNvSpPr txBox="1"/>
          <p:nvPr/>
        </p:nvSpPr>
        <p:spPr>
          <a:xfrm>
            <a:off x="7040880" y="2651760"/>
            <a:ext cx="2743200" cy="1280160"/>
          </a:xfrm>
          <a:prstGeom prst="rect">
            <a:avLst/>
          </a:prstGeom>
          <a:noFill/>
          <a:ln/>
        </p:spPr>
        <p:txBody>
          <a:bodyPr wrap="square" lIns="0" tIns="0" rIns="0" bIns="0" rtlCol="0" anchor="t"/>
          <a:lstStyle/>
          <a:p>
            <a:pPr marL="0" indent="0">
              <a:buNone/>
            </a:pPr>
            <a:r>
              <a:rPr lang="en-US" sz="2200" b="1" dirty="0">
                <a:solidFill>
                  <a:schemeClr val="bg1"/>
                </a:solidFill>
              </a:rPr>
              <a:t>db</a:t>
            </a:r>
            <a:endParaRPr lang="en-US" sz="2200" dirty="0"/>
          </a:p>
          <a:p>
            <a:pPr marL="0" indent="0">
              <a:buNone/>
            </a:pPr>
            <a:r>
              <a:rPr lang="en-US" sz="1300" dirty="0">
                <a:solidFill>
                  <a:schemeClr val="bg1"/>
                </a:solidFill>
              </a:rPr>
              <a:t>mssql/server:2022</a:t>
            </a:r>
            <a:endParaRPr lang="en-US" sz="2200" dirty="0"/>
          </a:p>
          <a:p>
            <a:pPr marL="0" indent="0">
              <a:buNone/>
            </a:pPr>
            <a:r>
              <a:rPr lang="en-US" sz="1300" dirty="0">
                <a:solidFill>
                  <a:schemeClr val="bg1"/>
                </a:solidFill>
              </a:rPr>
              <a:t>healthcheck: SELECT 1</a:t>
            </a:r>
            <a:endParaRPr lang="en-US" sz="2200" dirty="0"/>
          </a:p>
        </p:txBody>
      </p:sp>
      <p:sp>
        <p:nvSpPr>
          <p:cNvPr id="13" name="arrow-api-db"/>
          <p:cNvSpPr/>
          <p:nvPr/>
        </p:nvSpPr>
        <p:spPr>
          <a:xfrm>
            <a:off x="4206240" y="3291840"/>
            <a:ext cx="2606040" cy="0"/>
          </a:xfrm>
          <a:prstGeom prst="line">
            <a:avLst/>
          </a:prstGeom>
          <a:noFill/>
          <a:ln w="28575">
            <a:solidFill>
              <a:srgbClr val="14202E"/>
            </a:solidFill>
            <a:prstDash val="solid"/>
            <a:tailEnd type="triangle"/>
          </a:ln>
        </p:spPr>
        <p:txBody>
          <a:bodyPr/>
          <a:lstStyle/>
          <a:p>
            <a:endParaRPr lang="en-US"/>
          </a:p>
        </p:txBody>
      </p:sp>
      <p:sp>
        <p:nvSpPr>
          <p:cNvPr id="14" name="arrow-api-db-label"/>
          <p:cNvSpPr txBox="1"/>
          <p:nvPr/>
        </p:nvSpPr>
        <p:spPr>
          <a:xfrm>
            <a:off x="4343400" y="2880360"/>
            <a:ext cx="2377440" cy="320040"/>
          </a:xfrm>
          <a:prstGeom prst="rect">
            <a:avLst/>
          </a:prstGeom>
          <a:noFill/>
          <a:ln/>
        </p:spPr>
        <p:txBody>
          <a:bodyPr wrap="square" lIns="0" tIns="0" rIns="0" bIns="0" rtlCol="0" anchor="ctr"/>
          <a:lstStyle/>
          <a:p>
            <a:pPr marL="0" indent="0" algn="ctr">
              <a:buNone/>
            </a:pPr>
            <a:r>
              <a:rPr lang="en-US" sz="1300" dirty="0">
                <a:solidFill>
                  <a:schemeClr val="tx1"/>
                </a:solidFill>
                <a:latin typeface="Consolas" pitchFamily="34" charset="0"/>
                <a:ea typeface="Consolas" pitchFamily="34" charset="-122"/>
                <a:cs typeface="Consolas" pitchFamily="34" charset="-120"/>
              </a:rPr>
              <a:t>Server=db,1433</a:t>
            </a:r>
            <a:endParaRPr lang="en-US" sz="1300" dirty="0"/>
          </a:p>
        </p:txBody>
      </p:sp>
      <p:sp>
        <p:nvSpPr>
          <p:cNvPr id="15" name="svc-dbinit"/>
          <p:cNvSpPr/>
          <p:nvPr/>
        </p:nvSpPr>
        <p:spPr>
          <a:xfrm>
            <a:off x="6812280" y="4663440"/>
            <a:ext cx="3108960" cy="960120"/>
          </a:xfrm>
          <a:prstGeom prst="roundRect">
            <a:avLst>
              <a:gd name="adj" fmla="val 7619"/>
            </a:avLst>
          </a:prstGeom>
          <a:solidFill>
            <a:schemeClr val="bg1"/>
          </a:solidFill>
          <a:ln w="12700">
            <a:solidFill>
              <a:srgbClr val="5E6E7E"/>
            </a:solidFill>
            <a:prstDash val="solid"/>
          </a:ln>
        </p:spPr>
        <p:txBody>
          <a:bodyPr/>
          <a:lstStyle/>
          <a:p>
            <a:endParaRPr lang="en-US"/>
          </a:p>
        </p:txBody>
      </p:sp>
      <p:sp>
        <p:nvSpPr>
          <p:cNvPr id="16" name="svc-dbinit-text"/>
          <p:cNvSpPr txBox="1"/>
          <p:nvPr/>
        </p:nvSpPr>
        <p:spPr>
          <a:xfrm>
            <a:off x="7040880" y="4800600"/>
            <a:ext cx="2743200" cy="914400"/>
          </a:xfrm>
          <a:prstGeom prst="rect">
            <a:avLst/>
          </a:prstGeom>
          <a:noFill/>
          <a:ln/>
        </p:spPr>
        <p:txBody>
          <a:bodyPr wrap="square" lIns="0" tIns="0" rIns="0" bIns="0" rtlCol="0" anchor="t"/>
          <a:lstStyle/>
          <a:p>
            <a:pPr marL="0" indent="0">
              <a:buNone/>
            </a:pPr>
            <a:r>
              <a:rPr lang="en-US" sz="1600" b="1" dirty="0">
                <a:solidFill>
                  <a:schemeClr val="tx1"/>
                </a:solidFill>
              </a:rPr>
              <a:t>db-init (chạy 1 lần)</a:t>
            </a:r>
            <a:endParaRPr lang="en-US" sz="1600" dirty="0"/>
          </a:p>
          <a:p>
            <a:pPr marL="0" indent="0">
              <a:buNone/>
            </a:pPr>
            <a:r>
              <a:rPr lang="en-US" sz="1300" dirty="0">
                <a:solidFill>
                  <a:schemeClr val="tx1"/>
                </a:solidFill>
              </a:rPr>
              <a:t>init.sql chỉ khi chưa có DB</a:t>
            </a:r>
            <a:endParaRPr lang="en-US" sz="1600" dirty="0"/>
          </a:p>
        </p:txBody>
      </p:sp>
      <p:sp>
        <p:nvSpPr>
          <p:cNvPr id="17" name="arrow-init-db"/>
          <p:cNvSpPr/>
          <p:nvPr/>
        </p:nvSpPr>
        <p:spPr>
          <a:xfrm flipV="1">
            <a:off x="8366760" y="4069080"/>
            <a:ext cx="0" cy="594360"/>
          </a:xfrm>
          <a:prstGeom prst="line">
            <a:avLst/>
          </a:prstGeom>
          <a:noFill/>
          <a:ln w="28575">
            <a:solidFill>
              <a:srgbClr val="5E6E7E"/>
            </a:solidFill>
            <a:prstDash val="solid"/>
            <a:tailEnd type="triangle"/>
          </a:ln>
        </p:spPr>
        <p:txBody>
          <a:bodyPr/>
          <a:lstStyle/>
          <a:p>
            <a:endParaRPr lang="en-US"/>
          </a:p>
        </p:txBody>
      </p:sp>
      <p:sp>
        <p:nvSpPr>
          <p:cNvPr id="18" name="volume"/>
          <p:cNvSpPr/>
          <p:nvPr/>
        </p:nvSpPr>
        <p:spPr>
          <a:xfrm>
            <a:off x="10378440" y="2606040"/>
            <a:ext cx="1005840" cy="1280160"/>
          </a:xfrm>
          <a:prstGeom prst="can">
            <a:avLst/>
          </a:prstGeom>
          <a:solidFill>
            <a:schemeClr val="accent3"/>
          </a:solidFill>
          <a:ln w="12700">
            <a:solidFill>
              <a:schemeClr val="accent3"/>
            </a:solidFill>
            <a:prstDash val="solid"/>
          </a:ln>
        </p:spPr>
        <p:txBody>
          <a:bodyPr/>
          <a:lstStyle/>
          <a:p>
            <a:endParaRPr lang="en-US"/>
          </a:p>
        </p:txBody>
      </p:sp>
      <p:sp>
        <p:nvSpPr>
          <p:cNvPr id="19" name="volume-label"/>
          <p:cNvSpPr txBox="1"/>
          <p:nvPr/>
        </p:nvSpPr>
        <p:spPr>
          <a:xfrm>
            <a:off x="10058400" y="3977640"/>
            <a:ext cx="1645920" cy="548640"/>
          </a:xfrm>
          <a:prstGeom prst="rect">
            <a:avLst/>
          </a:prstGeom>
          <a:noFill/>
          <a:ln/>
        </p:spPr>
        <p:txBody>
          <a:bodyPr wrap="square" lIns="0" tIns="0" rIns="0" bIns="0" rtlCol="0" anchor="ctr"/>
          <a:lstStyle/>
          <a:p>
            <a:pPr marL="0" indent="0" algn="ctr">
              <a:buNone/>
            </a:pPr>
            <a:r>
              <a:rPr lang="en-US" sz="1200" b="1" dirty="0">
                <a:solidFill>
                  <a:schemeClr val="tx1"/>
                </a:solidFill>
              </a:rPr>
              <a:t>volume</a:t>
            </a:r>
            <a:endParaRPr lang="en-US" sz="1200" dirty="0"/>
          </a:p>
          <a:p>
            <a:pPr marL="0" indent="0" algn="ctr">
              <a:buNone/>
            </a:pPr>
            <a:r>
              <a:rPr lang="en-US" sz="1200" b="1" dirty="0">
                <a:solidFill>
                  <a:schemeClr val="tx1"/>
                </a:solidFill>
              </a:rPr>
              <a:t>mssql-data</a:t>
            </a:r>
            <a:endParaRPr lang="en-US" sz="1200" dirty="0"/>
          </a:p>
        </p:txBody>
      </p:sp>
      <p:sp>
        <p:nvSpPr>
          <p:cNvPr id="20" name="arrow-db-volume"/>
          <p:cNvSpPr/>
          <p:nvPr/>
        </p:nvSpPr>
        <p:spPr>
          <a:xfrm>
            <a:off x="9921240" y="3291840"/>
            <a:ext cx="457200" cy="0"/>
          </a:xfrm>
          <a:prstGeom prst="line">
            <a:avLst/>
          </a:prstGeom>
          <a:noFill/>
          <a:ln w="28575">
            <a:solidFill>
              <a:srgbClr val="14202E"/>
            </a:solidFill>
            <a:prstDash val="solid"/>
            <a:tailEnd type="triangle"/>
          </a:ln>
        </p:spPr>
        <p:txBody>
          <a:bodyPr/>
          <a:lstStyle/>
          <a:p>
            <a:endParaRPr lang="en-US"/>
          </a:p>
        </p:txBody>
      </p:sp>
      <p:sp>
        <p:nvSpPr>
          <p:cNvPr id="21" name="depends-note"/>
          <p:cNvSpPr txBox="1"/>
          <p:nvPr/>
        </p:nvSpPr>
        <p:spPr>
          <a:xfrm>
            <a:off x="914400" y="4754880"/>
            <a:ext cx="5394960" cy="822960"/>
          </a:xfrm>
          <a:prstGeom prst="rect">
            <a:avLst/>
          </a:prstGeom>
          <a:noFill/>
          <a:ln/>
        </p:spPr>
        <p:txBody>
          <a:bodyPr wrap="square" lIns="0" tIns="0" rIns="0" bIns="0" rtlCol="0" anchor="ctr"/>
          <a:lstStyle/>
          <a:p>
            <a:pPr marL="0" indent="0">
              <a:buNone/>
            </a:pPr>
            <a:r>
              <a:rPr lang="en-US" sz="1400" i="1" dirty="0">
                <a:solidFill>
                  <a:schemeClr val="tx1"/>
                </a:solidFill>
              </a:rPr>
              <a:t>api chỉ khởi động khi db healthy và db-init chạy xong (depends_on)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Mật khẩu đi từ .env vào container, không qua repo</a:t>
            </a:r>
            <a:endParaRPr lang="en-US" sz="3200" dirty="0"/>
          </a:p>
        </p:txBody>
      </p:sp>
      <p:sp>
        <p:nvSpPr>
          <p:cNvPr id="3" name="cfg0-head"/>
          <p:cNvSpPr txBox="1"/>
          <p:nvPr/>
        </p:nvSpPr>
        <p:spPr>
          <a:xfrm>
            <a:off x="548640" y="1371600"/>
            <a:ext cx="3383280" cy="411480"/>
          </a:xfrm>
          <a:prstGeom prst="rect">
            <a:avLst/>
          </a:prstGeom>
          <a:noFill/>
          <a:ln/>
        </p:spPr>
        <p:txBody>
          <a:bodyPr wrap="square" lIns="0" tIns="0" rIns="0" bIns="0" rtlCol="0" anchor="ctr"/>
          <a:lstStyle/>
          <a:p>
            <a:pPr marL="0" indent="0">
              <a:buNone/>
            </a:pPr>
            <a:r>
              <a:rPr lang="en-US" sz="1800" b="1" dirty="0">
                <a:solidFill>
                  <a:schemeClr val="tx1"/>
                </a:solidFill>
              </a:rPr>
              <a:t>.env (không commit)</a:t>
            </a:r>
            <a:endParaRPr lang="en-US" sz="1800" dirty="0"/>
          </a:p>
        </p:txBody>
      </p:sp>
      <p:sp>
        <p:nvSpPr>
          <p:cNvPr id="4" name="cfg0-code-bg"/>
          <p:cNvSpPr/>
          <p:nvPr/>
        </p:nvSpPr>
        <p:spPr>
          <a:xfrm>
            <a:off x="548640" y="1874520"/>
            <a:ext cx="3383280" cy="1325880"/>
          </a:xfrm>
          <a:prstGeom prst="roundRect">
            <a:avLst>
              <a:gd name="adj" fmla="val 5517"/>
            </a:avLst>
          </a:prstGeom>
          <a:solidFill>
            <a:schemeClr val="tx1"/>
          </a:solidFill>
          <a:ln w="12700">
            <a:solidFill>
              <a:schemeClr val="tx1"/>
            </a:solidFill>
            <a:prstDash val="solid"/>
          </a:ln>
        </p:spPr>
        <p:txBody>
          <a:bodyPr/>
          <a:lstStyle/>
          <a:p>
            <a:endParaRPr lang="en-US"/>
          </a:p>
        </p:txBody>
      </p:sp>
      <p:sp>
        <p:nvSpPr>
          <p:cNvPr id="5" name="cfg0-code"/>
          <p:cNvSpPr txBox="1"/>
          <p:nvPr/>
        </p:nvSpPr>
        <p:spPr>
          <a:xfrm>
            <a:off x="777240" y="2057400"/>
            <a:ext cx="2926080" cy="960120"/>
          </a:xfrm>
          <a:prstGeom prst="rect">
            <a:avLst/>
          </a:prstGeom>
          <a:noFill/>
          <a:ln/>
        </p:spPr>
        <p:txBody>
          <a:bodyPr wrap="square" lIns="0" tIns="0" rIns="0" bIns="0" rtlCol="0" anchor="t"/>
          <a:lstStyle/>
          <a:p>
            <a:pPr marL="0" indent="0">
              <a:buNone/>
            </a:pPr>
            <a:r>
              <a:rPr lang="en-US" sz="1200" dirty="0">
                <a:solidFill>
                  <a:schemeClr val="bg1"/>
                </a:solidFill>
                <a:latin typeface="Consolas" pitchFamily="34" charset="0"/>
                <a:ea typeface="Consolas" pitchFamily="34" charset="-122"/>
                <a:cs typeface="Consolas" pitchFamily="34" charset="-120"/>
              </a:rPr>
              <a:t>MSSQL_SA_PASSWORD=••••••</a:t>
            </a:r>
            <a:endParaRPr lang="en-US" sz="1200" dirty="0"/>
          </a:p>
        </p:txBody>
      </p:sp>
      <p:sp>
        <p:nvSpPr>
          <p:cNvPr id="6" name="cfg0-cap"/>
          <p:cNvSpPr txBox="1"/>
          <p:nvPr/>
        </p:nvSpPr>
        <p:spPr>
          <a:xfrm>
            <a:off x="548640" y="3337560"/>
            <a:ext cx="3383280" cy="640080"/>
          </a:xfrm>
          <a:prstGeom prst="rect">
            <a:avLst/>
          </a:prstGeom>
          <a:noFill/>
          <a:ln/>
        </p:spPr>
        <p:txBody>
          <a:bodyPr wrap="square" lIns="0" tIns="0" rIns="0" bIns="0" rtlCol="0" anchor="ctr"/>
          <a:lstStyle/>
          <a:p>
            <a:pPr marL="0" indent="0">
              <a:buNone/>
            </a:pPr>
            <a:r>
              <a:rPr lang="en-US" sz="1400" dirty="0">
                <a:solidFill>
                  <a:schemeClr val="accent5"/>
                </a:solidFill>
              </a:rPr>
              <a:t>Compose tự đọc file .env cùng thư mục</a:t>
            </a:r>
            <a:endParaRPr lang="en-US" sz="1400" dirty="0"/>
          </a:p>
        </p:txBody>
      </p:sp>
      <p:sp>
        <p:nvSpPr>
          <p:cNvPr id="7" name="cfg0-arrow"/>
          <p:cNvSpPr/>
          <p:nvPr/>
        </p:nvSpPr>
        <p:spPr>
          <a:xfrm>
            <a:off x="3977640" y="2542032"/>
            <a:ext cx="365760" cy="0"/>
          </a:xfrm>
          <a:prstGeom prst="line">
            <a:avLst/>
          </a:prstGeom>
          <a:noFill/>
          <a:ln w="28575">
            <a:solidFill>
              <a:srgbClr val="0E9F8E"/>
            </a:solidFill>
            <a:prstDash val="solid"/>
            <a:tailEnd type="triangle"/>
          </a:ln>
        </p:spPr>
        <p:txBody>
          <a:bodyPr/>
          <a:lstStyle/>
          <a:p>
            <a:endParaRPr lang="en-US"/>
          </a:p>
        </p:txBody>
      </p:sp>
      <p:sp>
        <p:nvSpPr>
          <p:cNvPr id="8" name="cfg1-head"/>
          <p:cNvSpPr txBox="1"/>
          <p:nvPr/>
        </p:nvSpPr>
        <p:spPr>
          <a:xfrm>
            <a:off x="4389120" y="1371600"/>
            <a:ext cx="3383280" cy="411480"/>
          </a:xfrm>
          <a:prstGeom prst="rect">
            <a:avLst/>
          </a:prstGeom>
          <a:noFill/>
          <a:ln/>
        </p:spPr>
        <p:txBody>
          <a:bodyPr wrap="square" lIns="0" tIns="0" rIns="0" bIns="0" rtlCol="0" anchor="ctr"/>
          <a:lstStyle/>
          <a:p>
            <a:pPr marL="0" indent="0">
              <a:buNone/>
            </a:pPr>
            <a:r>
              <a:rPr lang="en-US" sz="1800" b="1" dirty="0">
                <a:solidFill>
                  <a:schemeClr val="tx1"/>
                </a:solidFill>
              </a:rPr>
              <a:t>docker-compose.yml</a:t>
            </a:r>
            <a:endParaRPr lang="en-US" sz="1800" dirty="0"/>
          </a:p>
        </p:txBody>
      </p:sp>
      <p:sp>
        <p:nvSpPr>
          <p:cNvPr id="9" name="cfg1-code-bg"/>
          <p:cNvSpPr/>
          <p:nvPr/>
        </p:nvSpPr>
        <p:spPr>
          <a:xfrm>
            <a:off x="4389120" y="1874520"/>
            <a:ext cx="3383280" cy="1325880"/>
          </a:xfrm>
          <a:prstGeom prst="roundRect">
            <a:avLst>
              <a:gd name="adj" fmla="val 5517"/>
            </a:avLst>
          </a:prstGeom>
          <a:solidFill>
            <a:schemeClr val="tx1"/>
          </a:solidFill>
          <a:ln w="12700">
            <a:solidFill>
              <a:schemeClr val="tx1"/>
            </a:solidFill>
            <a:prstDash val="solid"/>
          </a:ln>
        </p:spPr>
        <p:txBody>
          <a:bodyPr/>
          <a:lstStyle/>
          <a:p>
            <a:endParaRPr lang="en-US"/>
          </a:p>
        </p:txBody>
      </p:sp>
      <p:sp>
        <p:nvSpPr>
          <p:cNvPr id="10" name="cfg1-code"/>
          <p:cNvSpPr txBox="1"/>
          <p:nvPr/>
        </p:nvSpPr>
        <p:spPr>
          <a:xfrm>
            <a:off x="4617720" y="2057400"/>
            <a:ext cx="2926080" cy="960120"/>
          </a:xfrm>
          <a:prstGeom prst="rect">
            <a:avLst/>
          </a:prstGeom>
          <a:noFill/>
          <a:ln/>
        </p:spPr>
        <p:txBody>
          <a:bodyPr wrap="square" lIns="0" tIns="0" rIns="0" bIns="0" rtlCol="0" anchor="t"/>
          <a:lstStyle/>
          <a:p>
            <a:pPr marL="0" indent="0">
              <a:buNone/>
            </a:pPr>
            <a:r>
              <a:rPr lang="en-US" sz="1200" dirty="0">
                <a:solidFill>
                  <a:schemeClr val="bg1"/>
                </a:solidFill>
                <a:latin typeface="Consolas" pitchFamily="34" charset="0"/>
                <a:ea typeface="Consolas" pitchFamily="34" charset="-122"/>
                <a:cs typeface="Consolas" pitchFamily="34" charset="-120"/>
              </a:rPr>
              <a:t>ConnectionStrings__Default:</a:t>
            </a:r>
            <a:endParaRPr lang="en-US" sz="1200" dirty="0"/>
          </a:p>
          <a:p>
            <a:pPr marL="0" indent="0">
              <a:buNone/>
            </a:pPr>
            <a:r>
              <a:rPr lang="en-US" sz="1200" dirty="0">
                <a:solidFill>
                  <a:schemeClr val="bg1"/>
                </a:solidFill>
                <a:latin typeface="Consolas" pitchFamily="34" charset="0"/>
                <a:ea typeface="Consolas" pitchFamily="34" charset="-122"/>
                <a:cs typeface="Consolas" pitchFamily="34" charset="-120"/>
              </a:rPr>
              <a:t>  Server=db,1433;...;</a:t>
            </a:r>
            <a:endParaRPr lang="en-US" sz="1200" dirty="0"/>
          </a:p>
          <a:p>
            <a:pPr marL="0" indent="0">
              <a:buNone/>
            </a:pPr>
            <a:r>
              <a:rPr lang="en-US" sz="1200" dirty="0">
                <a:solidFill>
                  <a:schemeClr val="bg1"/>
                </a:solidFill>
                <a:latin typeface="Consolas" pitchFamily="34" charset="0"/>
                <a:ea typeface="Consolas" pitchFamily="34" charset="-122"/>
                <a:cs typeface="Consolas" pitchFamily="34" charset="-120"/>
              </a:rPr>
              <a:t>  Password=${MSSQL_SA_PASSWORD}</a:t>
            </a:r>
            <a:endParaRPr lang="en-US" sz="1200" dirty="0"/>
          </a:p>
        </p:txBody>
      </p:sp>
      <p:sp>
        <p:nvSpPr>
          <p:cNvPr id="11" name="cfg1-cap"/>
          <p:cNvSpPr txBox="1"/>
          <p:nvPr/>
        </p:nvSpPr>
        <p:spPr>
          <a:xfrm>
            <a:off x="4389120" y="3337560"/>
            <a:ext cx="3383280" cy="640080"/>
          </a:xfrm>
          <a:prstGeom prst="rect">
            <a:avLst/>
          </a:prstGeom>
          <a:noFill/>
          <a:ln/>
        </p:spPr>
        <p:txBody>
          <a:bodyPr wrap="square" lIns="0" tIns="0" rIns="0" bIns="0" rtlCol="0" anchor="ctr"/>
          <a:lstStyle/>
          <a:p>
            <a:pPr marL="0" indent="0">
              <a:buNone/>
            </a:pPr>
            <a:r>
              <a:rPr lang="en-US" sz="1400" dirty="0">
                <a:solidFill>
                  <a:schemeClr val="accent5"/>
                </a:solidFill>
              </a:rPr>
              <a:t>${...} được thay lúc Compose đọc file</a:t>
            </a:r>
            <a:endParaRPr lang="en-US" sz="1400" dirty="0"/>
          </a:p>
        </p:txBody>
      </p:sp>
      <p:sp>
        <p:nvSpPr>
          <p:cNvPr id="12" name="cfg1-arrow"/>
          <p:cNvSpPr/>
          <p:nvPr/>
        </p:nvSpPr>
        <p:spPr>
          <a:xfrm>
            <a:off x="7818120" y="2542032"/>
            <a:ext cx="365760" cy="0"/>
          </a:xfrm>
          <a:prstGeom prst="line">
            <a:avLst/>
          </a:prstGeom>
          <a:noFill/>
          <a:ln w="28575">
            <a:solidFill>
              <a:srgbClr val="0E9F8E"/>
            </a:solidFill>
            <a:prstDash val="solid"/>
            <a:tailEnd type="triangle"/>
          </a:ln>
        </p:spPr>
        <p:txBody>
          <a:bodyPr/>
          <a:lstStyle/>
          <a:p>
            <a:endParaRPr lang="en-US"/>
          </a:p>
        </p:txBody>
      </p:sp>
      <p:sp>
        <p:nvSpPr>
          <p:cNvPr id="13" name="cfg2-head"/>
          <p:cNvSpPr txBox="1"/>
          <p:nvPr/>
        </p:nvSpPr>
        <p:spPr>
          <a:xfrm>
            <a:off x="8229600" y="1371600"/>
            <a:ext cx="3383280" cy="411480"/>
          </a:xfrm>
          <a:prstGeom prst="rect">
            <a:avLst/>
          </a:prstGeom>
          <a:noFill/>
          <a:ln/>
        </p:spPr>
        <p:txBody>
          <a:bodyPr wrap="square" lIns="0" tIns="0" rIns="0" bIns="0" rtlCol="0" anchor="ctr"/>
          <a:lstStyle/>
          <a:p>
            <a:pPr marL="0" indent="0">
              <a:buNone/>
            </a:pPr>
            <a:r>
              <a:rPr lang="en-US" sz="1800" b="1" dirty="0">
                <a:solidFill>
                  <a:schemeClr val="tx1"/>
                </a:solidFill>
              </a:rPr>
              <a:t>Container api</a:t>
            </a:r>
            <a:endParaRPr lang="en-US" sz="1800" dirty="0"/>
          </a:p>
        </p:txBody>
      </p:sp>
      <p:sp>
        <p:nvSpPr>
          <p:cNvPr id="14" name="cfg2-code-bg"/>
          <p:cNvSpPr/>
          <p:nvPr/>
        </p:nvSpPr>
        <p:spPr>
          <a:xfrm>
            <a:off x="8229600" y="1874520"/>
            <a:ext cx="3383280" cy="1325880"/>
          </a:xfrm>
          <a:prstGeom prst="roundRect">
            <a:avLst>
              <a:gd name="adj" fmla="val 5517"/>
            </a:avLst>
          </a:prstGeom>
          <a:solidFill>
            <a:schemeClr val="tx1"/>
          </a:solidFill>
          <a:ln w="12700">
            <a:solidFill>
              <a:schemeClr val="tx1"/>
            </a:solidFill>
            <a:prstDash val="solid"/>
          </a:ln>
        </p:spPr>
        <p:txBody>
          <a:bodyPr/>
          <a:lstStyle/>
          <a:p>
            <a:endParaRPr lang="en-US"/>
          </a:p>
        </p:txBody>
      </p:sp>
      <p:sp>
        <p:nvSpPr>
          <p:cNvPr id="15" name="cfg2-code"/>
          <p:cNvSpPr txBox="1"/>
          <p:nvPr/>
        </p:nvSpPr>
        <p:spPr>
          <a:xfrm>
            <a:off x="8458200" y="2057400"/>
            <a:ext cx="2926080" cy="960120"/>
          </a:xfrm>
          <a:prstGeom prst="rect">
            <a:avLst/>
          </a:prstGeom>
          <a:noFill/>
          <a:ln/>
        </p:spPr>
        <p:txBody>
          <a:bodyPr wrap="square" lIns="0" tIns="0" rIns="0" bIns="0" rtlCol="0" anchor="t"/>
          <a:lstStyle/>
          <a:p>
            <a:pPr marL="0" indent="0">
              <a:buNone/>
            </a:pPr>
            <a:r>
              <a:rPr lang="en-US" sz="1200" dirty="0">
                <a:solidFill>
                  <a:schemeClr val="bg1"/>
                </a:solidFill>
                <a:latin typeface="Consolas" pitchFamily="34" charset="0"/>
                <a:ea typeface="Consolas" pitchFamily="34" charset="-122"/>
                <a:cs typeface="Consolas" pitchFamily="34" charset="-120"/>
              </a:rPr>
              <a:t>GetConnectionString("Default")</a:t>
            </a:r>
            <a:endParaRPr lang="en-US" sz="1200" dirty="0"/>
          </a:p>
        </p:txBody>
      </p:sp>
      <p:sp>
        <p:nvSpPr>
          <p:cNvPr id="16" name="cfg2-cap"/>
          <p:cNvSpPr txBox="1"/>
          <p:nvPr/>
        </p:nvSpPr>
        <p:spPr>
          <a:xfrm>
            <a:off x="8229600" y="3337560"/>
            <a:ext cx="3383280" cy="640080"/>
          </a:xfrm>
          <a:prstGeom prst="rect">
            <a:avLst/>
          </a:prstGeom>
          <a:noFill/>
          <a:ln/>
        </p:spPr>
        <p:txBody>
          <a:bodyPr wrap="square" lIns="0" tIns="0" rIns="0" bIns="0" rtlCol="0" anchor="ctr"/>
          <a:lstStyle/>
          <a:p>
            <a:pPr marL="0" indent="0">
              <a:buNone/>
            </a:pPr>
            <a:r>
              <a:rPr lang="en-US" sz="1400" dirty="0">
                <a:solidFill>
                  <a:schemeClr val="accent5"/>
                </a:solidFill>
              </a:rPr>
              <a:t>Biến môi trường ghi đè appsettings.json</a:t>
            </a:r>
            <a:endParaRPr lang="en-US" sz="1400" dirty="0"/>
          </a:p>
        </p:txBody>
      </p:sp>
      <p:sp>
        <p:nvSpPr>
          <p:cNvPr id="17" name="cfg-rule"/>
          <p:cNvSpPr/>
          <p:nvPr/>
        </p:nvSpPr>
        <p:spPr>
          <a:xfrm>
            <a:off x="548640" y="4251960"/>
            <a:ext cx="11064240" cy="1371600"/>
          </a:xfrm>
          <a:prstGeom prst="roundRect">
            <a:avLst>
              <a:gd name="adj" fmla="val 5333"/>
            </a:avLst>
          </a:prstGeom>
          <a:solidFill>
            <a:schemeClr val="bg2"/>
          </a:solidFill>
          <a:ln w="12700">
            <a:solidFill>
              <a:schemeClr val="bg2"/>
            </a:solidFill>
            <a:prstDash val="solid"/>
          </a:ln>
        </p:spPr>
        <p:txBody>
          <a:bodyPr/>
          <a:lstStyle/>
          <a:p>
            <a:endParaRPr lang="en-US"/>
          </a:p>
        </p:txBody>
      </p:sp>
      <p:sp>
        <p:nvSpPr>
          <p:cNvPr id="18" name="cfg-rule-text"/>
          <p:cNvSpPr txBox="1"/>
          <p:nvPr/>
        </p:nvSpPr>
        <p:spPr>
          <a:xfrm>
            <a:off x="822960" y="4389120"/>
            <a:ext cx="10515600" cy="1097280"/>
          </a:xfrm>
          <a:prstGeom prst="rect">
            <a:avLst/>
          </a:prstGeom>
          <a:noFill/>
          <a:ln/>
        </p:spPr>
        <p:txBody>
          <a:bodyPr wrap="square" lIns="0" tIns="0" rIns="0" bIns="0" rtlCol="0" anchor="ctr"/>
          <a:lstStyle/>
          <a:p>
            <a:pPr marL="0" indent="0">
              <a:buNone/>
            </a:pPr>
            <a:r>
              <a:rPr lang="en-US" sz="1500" b="1" dirty="0">
                <a:solidFill>
                  <a:schemeClr val="tx1"/>
                </a:solidFill>
              </a:rPr>
              <a:t>Quy tắc đặt tên: </a:t>
            </a:r>
            <a:r>
              <a:rPr lang="en-US" sz="1500" dirty="0">
                <a:solidFill>
                  <a:schemeClr val="tx1"/>
                </a:solidFill>
                <a:latin typeface="Consolas" pitchFamily="34" charset="0"/>
                <a:ea typeface="Consolas" pitchFamily="34" charset="-122"/>
                <a:cs typeface="Consolas" pitchFamily="34" charset="-120"/>
              </a:rPr>
              <a:t>ConnectionStrings__Default</a:t>
            </a:r>
            <a:r>
              <a:rPr lang="en-US" sz="1500" dirty="0">
                <a:solidFill>
                  <a:schemeClr val="tx1"/>
                </a:solidFill>
              </a:rPr>
              <a:t> (biến môi trường) = key </a:t>
            </a:r>
            <a:r>
              <a:rPr lang="en-US" sz="1500" dirty="0">
                <a:solidFill>
                  <a:schemeClr val="tx1"/>
                </a:solidFill>
                <a:latin typeface="Consolas" pitchFamily="34" charset="0"/>
                <a:ea typeface="Consolas" pitchFamily="34" charset="-122"/>
                <a:cs typeface="Consolas" pitchFamily="34" charset="-120"/>
              </a:rPr>
              <a:t>ConnectionStrings:Default</a:t>
            </a:r>
            <a:r>
              <a:rPr lang="en-US" sz="1500" dirty="0">
                <a:solidFill>
                  <a:schemeClr val="tx1"/>
                </a:solidFill>
              </a:rPr>
              <a:t> trong appsettings. Dấu __ được đọc thành dấu :, nên key trong appsettings phải đổi từ DefaultConnection thành Default.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/health hỏi thẳng database, trả 200 hoặc 503</a:t>
            </a:r>
            <a:endParaRPr lang="en-US" sz="3200" dirty="0"/>
          </a:p>
        </p:txBody>
      </p:sp>
      <p:sp>
        <p:nvSpPr>
          <p:cNvPr id="3" name="hc-file"/>
          <p:cNvSpPr txBox="1"/>
          <p:nvPr/>
        </p:nvSpPr>
        <p:spPr>
          <a:xfrm>
            <a:off x="548640" y="1371600"/>
            <a:ext cx="5486400" cy="365760"/>
          </a:xfrm>
          <a:prstGeom prst="rect">
            <a:avLst/>
          </a:prstGeom>
          <a:noFill/>
          <a:ln/>
        </p:spPr>
        <p:txBody>
          <a:bodyPr wrap="square" lIns="0" tIns="0" rIns="0" bIns="0" rtlCol="0" anchor="ctr"/>
          <a:lstStyle/>
          <a:p>
            <a:pPr marL="0" indent="0">
              <a:buNone/>
            </a:pPr>
            <a:r>
              <a:rPr lang="en-US" sz="1600" b="1" dirty="0">
                <a:solidFill>
                  <a:schemeClr val="tx1"/>
                </a:solidFill>
              </a:rPr>
              <a:t>Program.cs</a:t>
            </a:r>
            <a:endParaRPr lang="en-US" sz="1600" dirty="0"/>
          </a:p>
        </p:txBody>
      </p:sp>
      <p:sp>
        <p:nvSpPr>
          <p:cNvPr id="4" name="hc-code-bg"/>
          <p:cNvSpPr/>
          <p:nvPr/>
        </p:nvSpPr>
        <p:spPr>
          <a:xfrm>
            <a:off x="548640" y="1783080"/>
            <a:ext cx="6035040" cy="1508760"/>
          </a:xfrm>
          <a:prstGeom prst="roundRect">
            <a:avLst>
              <a:gd name="adj" fmla="val 4848"/>
            </a:avLst>
          </a:prstGeom>
          <a:solidFill>
            <a:schemeClr val="tx1"/>
          </a:solidFill>
          <a:ln w="12700">
            <a:solidFill>
              <a:schemeClr val="tx1"/>
            </a:solidFill>
            <a:prstDash val="solid"/>
          </a:ln>
        </p:spPr>
        <p:txBody>
          <a:bodyPr/>
          <a:lstStyle/>
          <a:p>
            <a:endParaRPr lang="en-US"/>
          </a:p>
        </p:txBody>
      </p:sp>
      <p:sp>
        <p:nvSpPr>
          <p:cNvPr id="5" name="hc-code"/>
          <p:cNvSpPr txBox="1"/>
          <p:nvPr/>
        </p:nvSpPr>
        <p:spPr>
          <a:xfrm>
            <a:off x="777240" y="1965960"/>
            <a:ext cx="5577840" cy="1143000"/>
          </a:xfrm>
          <a:prstGeom prst="rect">
            <a:avLst/>
          </a:prstGeom>
          <a:noFill/>
          <a:ln/>
        </p:spPr>
        <p:txBody>
          <a:bodyPr wrap="square" lIns="0" tIns="0" rIns="0" bIns="0" rtlCol="0" anchor="t"/>
          <a:lstStyle/>
          <a:p>
            <a:pPr marL="0" indent="0">
              <a:buNone/>
            </a:pPr>
            <a:r>
              <a:rPr lang="en-US" sz="1400" dirty="0">
                <a:solidFill>
                  <a:schemeClr val="bg1"/>
                </a:solidFill>
                <a:latin typeface="Consolas" pitchFamily="34" charset="0"/>
                <a:ea typeface="Consolas" pitchFamily="34" charset="-122"/>
                <a:cs typeface="Consolas" pitchFamily="34" charset="-120"/>
              </a:rPr>
              <a:t>builder.Services.AddHealthChecks()</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    .AddDbContextCheck&lt;AppDbContext&gt;("database");</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app.MapHealthChecks("/health");</a:t>
            </a:r>
            <a:endParaRPr lang="en-US" sz="1400" dirty="0"/>
          </a:p>
        </p:txBody>
      </p:sp>
      <p:sp>
        <p:nvSpPr>
          <p:cNvPr id="6" name="hc-points"/>
          <p:cNvSpPr txBox="1"/>
          <p:nvPr/>
        </p:nvSpPr>
        <p:spPr>
          <a:xfrm>
            <a:off x="548640" y="3566160"/>
            <a:ext cx="603504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AddDbContextCheck gọi CanConnectAsync() của EF Core mỗi lần có request vào /health</a:t>
            </a:r>
            <a:endParaRPr lang="en-US" sz="1500" dirty="0"/>
          </a:p>
          <a:p>
            <a:pPr marL="342900" indent="-342900">
              <a:spcAft>
                <a:spcPts val="800"/>
              </a:spcAft>
              <a:buSzPct val="100000"/>
              <a:buChar char="•"/>
            </a:pPr>
            <a:r>
              <a:rPr lang="en-US" sz="1500" dirty="0">
                <a:solidFill>
                  <a:schemeClr val="tx1"/>
                </a:solidFill>
              </a:rPr>
              <a:t>Docker, load balancer, Kubernetes, App Runner chỉ đọc status code</a:t>
            </a:r>
            <a:endParaRPr lang="en-US" sz="1500" dirty="0"/>
          </a:p>
          <a:p>
            <a:pPr marL="342900" indent="-342900">
              <a:spcAft>
                <a:spcPts val="800"/>
              </a:spcAft>
              <a:buSzPct val="100000"/>
              <a:buChar char="•"/>
            </a:pPr>
            <a:r>
              <a:rPr lang="en-US" sz="1500" dirty="0">
                <a:solidFill>
                  <a:schemeClr val="tx1"/>
                </a:solidFill>
              </a:rPr>
              <a:t>Connect Timeout=5 để không treo khoảng 30 giây khi DB tắt</a:t>
            </a:r>
            <a:endParaRPr lang="en-US" sz="1500" dirty="0"/>
          </a:p>
        </p:txBody>
      </p:sp>
      <p:sp>
        <p:nvSpPr>
          <p:cNvPr id="7" name="hc-ok"/>
          <p:cNvSpPr/>
          <p:nvPr/>
        </p:nvSpPr>
        <p:spPr>
          <a:xfrm>
            <a:off x="7040880" y="1371600"/>
            <a:ext cx="4572000" cy="2240280"/>
          </a:xfrm>
          <a:prstGeom prst="roundRect">
            <a:avLst>
              <a:gd name="adj" fmla="val 3265"/>
            </a:avLst>
          </a:prstGeom>
          <a:solidFill>
            <a:schemeClr val="accent1"/>
          </a:solidFill>
          <a:ln w="12700">
            <a:solidFill>
              <a:schemeClr val="accent1"/>
            </a:solidFill>
            <a:prstDash val="solid"/>
          </a:ln>
        </p:spPr>
        <p:txBody>
          <a:bodyPr/>
          <a:lstStyle/>
          <a:p>
            <a:endParaRPr lang="en-US"/>
          </a:p>
        </p:txBody>
      </p:sp>
      <p:sp>
        <p:nvSpPr>
          <p:cNvPr id="8" name="hc-ok-code"/>
          <p:cNvSpPr txBox="1"/>
          <p:nvPr/>
        </p:nvSpPr>
        <p:spPr>
          <a:xfrm>
            <a:off x="7315200" y="1508760"/>
            <a:ext cx="2194560" cy="109728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200</a:t>
            </a:r>
            <a:endParaRPr lang="en-US" sz="6000" dirty="0"/>
          </a:p>
        </p:txBody>
      </p:sp>
      <p:sp>
        <p:nvSpPr>
          <p:cNvPr id="9" name="hc-ok-word"/>
          <p:cNvSpPr txBox="1"/>
          <p:nvPr/>
        </p:nvSpPr>
        <p:spPr>
          <a:xfrm>
            <a:off x="9326880" y="1783080"/>
            <a:ext cx="2103120" cy="640080"/>
          </a:xfrm>
          <a:prstGeom prst="rect">
            <a:avLst/>
          </a:prstGeom>
          <a:noFill/>
          <a:ln/>
        </p:spPr>
        <p:txBody>
          <a:bodyPr wrap="square" lIns="0" tIns="0" rIns="0" bIns="0" rtlCol="0" anchor="ctr"/>
          <a:lstStyle/>
          <a:p>
            <a:pPr marL="0" indent="0">
              <a:buNone/>
            </a:pPr>
            <a:r>
              <a:rPr lang="en-US" sz="2400" b="1" dirty="0">
                <a:solidFill>
                  <a:schemeClr val="bg1"/>
                </a:solidFill>
              </a:rPr>
              <a:t>Healthy</a:t>
            </a:r>
            <a:endParaRPr lang="en-US" sz="2400" dirty="0"/>
          </a:p>
        </p:txBody>
      </p:sp>
      <p:sp>
        <p:nvSpPr>
          <p:cNvPr id="10" name="hc-ok-cap"/>
          <p:cNvSpPr txBox="1"/>
          <p:nvPr/>
        </p:nvSpPr>
        <p:spPr>
          <a:xfrm>
            <a:off x="7315200" y="2697480"/>
            <a:ext cx="4023360" cy="640080"/>
          </a:xfrm>
          <a:prstGeom prst="rect">
            <a:avLst/>
          </a:prstGeom>
          <a:noFill/>
          <a:ln/>
        </p:spPr>
        <p:txBody>
          <a:bodyPr wrap="square" lIns="0" tIns="0" rIns="0" bIns="0" rtlCol="0" anchor="ctr"/>
          <a:lstStyle/>
          <a:p>
            <a:pPr marL="0" indent="0">
              <a:buNone/>
            </a:pPr>
            <a:r>
              <a:rPr lang="en-US" sz="1600" dirty="0">
                <a:solidFill>
                  <a:schemeClr val="bg1"/>
                </a:solidFill>
              </a:rPr>
              <a:t>DB đang chạy</a:t>
            </a:r>
            <a:endParaRPr lang="en-US" sz="1600" dirty="0"/>
          </a:p>
        </p:txBody>
      </p:sp>
      <p:sp>
        <p:nvSpPr>
          <p:cNvPr id="11" name="hc-bad"/>
          <p:cNvSpPr/>
          <p:nvPr/>
        </p:nvSpPr>
        <p:spPr>
          <a:xfrm>
            <a:off x="7040880" y="3840480"/>
            <a:ext cx="4572000" cy="2240280"/>
          </a:xfrm>
          <a:prstGeom prst="roundRect">
            <a:avLst>
              <a:gd name="adj" fmla="val 3265"/>
            </a:avLst>
          </a:prstGeom>
          <a:solidFill>
            <a:schemeClr val="accent2"/>
          </a:solidFill>
          <a:ln w="12700">
            <a:solidFill>
              <a:schemeClr val="accent2"/>
            </a:solidFill>
            <a:prstDash val="solid"/>
          </a:ln>
        </p:spPr>
        <p:txBody>
          <a:bodyPr/>
          <a:lstStyle/>
          <a:p>
            <a:endParaRPr lang="en-US"/>
          </a:p>
        </p:txBody>
      </p:sp>
      <p:sp>
        <p:nvSpPr>
          <p:cNvPr id="12" name="hc-bad-code"/>
          <p:cNvSpPr txBox="1"/>
          <p:nvPr/>
        </p:nvSpPr>
        <p:spPr>
          <a:xfrm>
            <a:off x="7315200" y="3977640"/>
            <a:ext cx="2194560" cy="109728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503</a:t>
            </a:r>
            <a:endParaRPr lang="en-US" sz="6000" dirty="0"/>
          </a:p>
        </p:txBody>
      </p:sp>
      <p:sp>
        <p:nvSpPr>
          <p:cNvPr id="13" name="hc-bad-word"/>
          <p:cNvSpPr txBox="1"/>
          <p:nvPr/>
        </p:nvSpPr>
        <p:spPr>
          <a:xfrm>
            <a:off x="9326880" y="4251960"/>
            <a:ext cx="2194560" cy="640080"/>
          </a:xfrm>
          <a:prstGeom prst="rect">
            <a:avLst/>
          </a:prstGeom>
          <a:noFill/>
          <a:ln/>
        </p:spPr>
        <p:txBody>
          <a:bodyPr wrap="square" lIns="0" tIns="0" rIns="0" bIns="0" rtlCol="0" anchor="ctr"/>
          <a:lstStyle/>
          <a:p>
            <a:pPr marL="0" indent="0">
              <a:buNone/>
            </a:pPr>
            <a:r>
              <a:rPr lang="en-US" sz="2400" b="1" dirty="0">
                <a:solidFill>
                  <a:schemeClr val="bg1"/>
                </a:solidFill>
              </a:rPr>
              <a:t>Unhealthy</a:t>
            </a:r>
            <a:endParaRPr lang="en-US" sz="2400" dirty="0"/>
          </a:p>
        </p:txBody>
      </p:sp>
      <p:sp>
        <p:nvSpPr>
          <p:cNvPr id="14" name="hc-bad-cap"/>
          <p:cNvSpPr txBox="1"/>
          <p:nvPr/>
        </p:nvSpPr>
        <p:spPr>
          <a:xfrm>
            <a:off x="7315200" y="5166360"/>
            <a:ext cx="4114800" cy="731520"/>
          </a:xfrm>
          <a:prstGeom prst="rect">
            <a:avLst/>
          </a:prstGeom>
          <a:noFill/>
          <a:ln/>
        </p:spPr>
        <p:txBody>
          <a:bodyPr wrap="square" lIns="0" tIns="0" rIns="0" bIns="0" rtlCol="0" anchor="ctr"/>
          <a:lstStyle/>
          <a:p>
            <a:pPr marL="0" indent="0">
              <a:buNone/>
            </a:pPr>
            <a:r>
              <a:rPr lang="en-US" sz="1600" dirty="0">
                <a:solidFill>
                  <a:schemeClr val="bg1"/>
                </a:solidFill>
              </a:rPr>
              <a:t>Sau docker compose stop db, trả về sau 7,9 giây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docker-compose.yml: ba khối quan trọng</a:t>
            </a:r>
            <a:endParaRPr lang="en-US" sz="3200" dirty="0"/>
          </a:p>
        </p:txBody>
      </p:sp>
      <p:sp>
        <p:nvSpPr>
          <p:cNvPr id="3" name="compose-code-bg"/>
          <p:cNvSpPr/>
          <p:nvPr/>
        </p:nvSpPr>
        <p:spPr>
          <a:xfrm>
            <a:off x="548640" y="1371600"/>
            <a:ext cx="6675120" cy="3840480"/>
          </a:xfrm>
          <a:prstGeom prst="roundRect">
            <a:avLst>
              <a:gd name="adj" fmla="val 1905"/>
            </a:avLst>
          </a:prstGeom>
          <a:solidFill>
            <a:schemeClr val="tx1"/>
          </a:solidFill>
          <a:ln w="12700">
            <a:solidFill>
              <a:schemeClr val="tx1"/>
            </a:solidFill>
            <a:prstDash val="solid"/>
          </a:ln>
        </p:spPr>
        <p:txBody>
          <a:bodyPr/>
          <a:lstStyle/>
          <a:p>
            <a:endParaRPr lang="en-US"/>
          </a:p>
        </p:txBody>
      </p:sp>
      <p:sp>
        <p:nvSpPr>
          <p:cNvPr id="4" name="compose-code"/>
          <p:cNvSpPr txBox="1"/>
          <p:nvPr/>
        </p:nvSpPr>
        <p:spPr>
          <a:xfrm>
            <a:off x="777240" y="1554480"/>
            <a:ext cx="6217920" cy="3474720"/>
          </a:xfrm>
          <a:prstGeom prst="rect">
            <a:avLst/>
          </a:prstGeom>
          <a:noFill/>
          <a:ln/>
        </p:spPr>
        <p:txBody>
          <a:bodyPr wrap="square" lIns="0" tIns="0" rIns="0" bIns="0" rtlCol="0" anchor="t"/>
          <a:lstStyle/>
          <a:p>
            <a:pPr marL="0" indent="0">
              <a:buNone/>
            </a:pPr>
            <a:r>
              <a:rPr lang="en-US" sz="1300" dirty="0">
                <a:solidFill>
                  <a:schemeClr val="bg1"/>
                </a:solidFill>
                <a:latin typeface="Consolas" pitchFamily="34" charset="0"/>
                <a:ea typeface="Consolas" pitchFamily="34" charset="-122"/>
                <a:cs typeface="Consolas" pitchFamily="34" charset="-120"/>
              </a:rPr>
              <a:t>db:</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image: mcr.microsoft.com/mssql/server:2022-latest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volumes: [ mssql-data:/var/opt/mssql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healthcheck:</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test: sqlcmd ... -C -Q "SELECT 1"</a:t>
            </a:r>
            <a:endParaRPr lang="en-US" sz="1300" dirty="0"/>
          </a:p>
          <a:p>
            <a:pPr marL="0" indent="0">
              <a:buNone/>
            </a:pP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api:</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build: { context: ., dockerfile: Dockerfile.linux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depends_on:</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db:      { condition: service_healthy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db-init: { condition: service_completed_successfully }</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environment:</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    ConnectionStrings__Default: "Server=db,1433;..."</a:t>
            </a:r>
            <a:endParaRPr lang="en-US" sz="1300" dirty="0"/>
          </a:p>
        </p:txBody>
      </p:sp>
      <p:sp>
        <p:nvSpPr>
          <p:cNvPr id="5" name="cp0-num-bg"/>
          <p:cNvSpPr/>
          <p:nvPr/>
        </p:nvSpPr>
        <p:spPr>
          <a:xfrm>
            <a:off x="7543800" y="1417320"/>
            <a:ext cx="457200" cy="457200"/>
          </a:xfrm>
          <a:prstGeom prst="ellipse">
            <a:avLst/>
          </a:prstGeom>
          <a:solidFill>
            <a:schemeClr val="accent4"/>
          </a:solidFill>
          <a:ln w="12700">
            <a:solidFill>
              <a:schemeClr val="accent4"/>
            </a:solidFill>
            <a:prstDash val="solid"/>
          </a:ln>
        </p:spPr>
        <p:txBody>
          <a:bodyPr/>
          <a:lstStyle/>
          <a:p>
            <a:endParaRPr lang="en-US"/>
          </a:p>
        </p:txBody>
      </p:sp>
      <p:sp>
        <p:nvSpPr>
          <p:cNvPr id="6" name="cp0-num"/>
          <p:cNvSpPr txBox="1"/>
          <p:nvPr/>
        </p:nvSpPr>
        <p:spPr>
          <a:xfrm>
            <a:off x="7543800" y="14173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7" name="cp0-head"/>
          <p:cNvSpPr txBox="1"/>
          <p:nvPr/>
        </p:nvSpPr>
        <p:spPr>
          <a:xfrm>
            <a:off x="8214360" y="1384663"/>
            <a:ext cx="3429000" cy="457200"/>
          </a:xfrm>
          <a:prstGeom prst="rect">
            <a:avLst/>
          </a:prstGeom>
          <a:noFill/>
          <a:ln/>
        </p:spPr>
        <p:txBody>
          <a:bodyPr wrap="square" lIns="0" tIns="0" rIns="0" bIns="0" rtlCol="0" anchor="ctr"/>
          <a:lstStyle/>
          <a:p>
            <a:pPr marL="0" indent="0">
              <a:buNone/>
            </a:pPr>
            <a:r>
              <a:rPr lang="en-US" sz="1700" b="1" dirty="0">
                <a:solidFill>
                  <a:schemeClr val="tx1"/>
                </a:solidFill>
              </a:rPr>
              <a:t>healthcheck</a:t>
            </a:r>
            <a:endParaRPr lang="en-US" sz="1700" dirty="0"/>
          </a:p>
        </p:txBody>
      </p:sp>
      <p:sp>
        <p:nvSpPr>
          <p:cNvPr id="8" name="cp0-text"/>
          <p:cNvSpPr txBox="1"/>
          <p:nvPr/>
        </p:nvSpPr>
        <p:spPr>
          <a:xfrm>
            <a:off x="8183880" y="1828800"/>
            <a:ext cx="3429000" cy="1005840"/>
          </a:xfrm>
          <a:prstGeom prst="rect">
            <a:avLst/>
          </a:prstGeom>
          <a:noFill/>
          <a:ln/>
        </p:spPr>
        <p:txBody>
          <a:bodyPr wrap="square" lIns="0" tIns="0" rIns="0" bIns="0" rtlCol="0" anchor="t"/>
          <a:lstStyle/>
          <a:p>
            <a:pPr marL="0" indent="0">
              <a:buNone/>
            </a:pPr>
            <a:r>
              <a:rPr lang="en-US" sz="1400" dirty="0">
                <a:solidFill>
                  <a:schemeClr val="accent5"/>
                </a:solidFill>
              </a:rPr>
              <a:t>Docker tự chạy SELECT 1 mỗi 10 giây, đánh dấu db là healthy (phần nâng cao).</a:t>
            </a:r>
            <a:endParaRPr lang="en-US" sz="1400" dirty="0"/>
          </a:p>
        </p:txBody>
      </p:sp>
      <p:sp>
        <p:nvSpPr>
          <p:cNvPr id="9" name="cp1-num-bg"/>
          <p:cNvSpPr/>
          <p:nvPr/>
        </p:nvSpPr>
        <p:spPr>
          <a:xfrm>
            <a:off x="7543800" y="3017520"/>
            <a:ext cx="457200" cy="457200"/>
          </a:xfrm>
          <a:prstGeom prst="ellipse">
            <a:avLst/>
          </a:prstGeom>
          <a:solidFill>
            <a:schemeClr val="accent4"/>
          </a:solidFill>
          <a:ln w="12700">
            <a:solidFill>
              <a:schemeClr val="accent4"/>
            </a:solidFill>
            <a:prstDash val="solid"/>
          </a:ln>
        </p:spPr>
        <p:txBody>
          <a:bodyPr/>
          <a:lstStyle/>
          <a:p>
            <a:endParaRPr lang="en-US"/>
          </a:p>
        </p:txBody>
      </p:sp>
      <p:sp>
        <p:nvSpPr>
          <p:cNvPr id="10" name="cp1-num"/>
          <p:cNvSpPr txBox="1"/>
          <p:nvPr/>
        </p:nvSpPr>
        <p:spPr>
          <a:xfrm>
            <a:off x="7543800" y="30175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cp1-head"/>
          <p:cNvSpPr txBox="1"/>
          <p:nvPr/>
        </p:nvSpPr>
        <p:spPr>
          <a:xfrm>
            <a:off x="8183880" y="2971800"/>
            <a:ext cx="3429000" cy="457200"/>
          </a:xfrm>
          <a:prstGeom prst="rect">
            <a:avLst/>
          </a:prstGeom>
          <a:noFill/>
          <a:ln/>
        </p:spPr>
        <p:txBody>
          <a:bodyPr wrap="square" lIns="0" tIns="0" rIns="0" bIns="0" rtlCol="0" anchor="ctr"/>
          <a:lstStyle/>
          <a:p>
            <a:pPr marL="0" indent="0">
              <a:buNone/>
            </a:pPr>
            <a:r>
              <a:rPr lang="en-US" sz="1700" b="1" dirty="0">
                <a:solidFill>
                  <a:schemeClr val="tx1"/>
                </a:solidFill>
              </a:rPr>
              <a:t>depends_on + condition</a:t>
            </a:r>
            <a:endParaRPr lang="en-US" sz="1700" dirty="0"/>
          </a:p>
        </p:txBody>
      </p:sp>
      <p:sp>
        <p:nvSpPr>
          <p:cNvPr id="12" name="cp1-text"/>
          <p:cNvSpPr txBox="1"/>
          <p:nvPr/>
        </p:nvSpPr>
        <p:spPr>
          <a:xfrm>
            <a:off x="8183880" y="3429000"/>
            <a:ext cx="3429000" cy="1005840"/>
          </a:xfrm>
          <a:prstGeom prst="rect">
            <a:avLst/>
          </a:prstGeom>
          <a:noFill/>
          <a:ln/>
        </p:spPr>
        <p:txBody>
          <a:bodyPr wrap="square" lIns="0" tIns="0" rIns="0" bIns="0" rtlCol="0" anchor="t"/>
          <a:lstStyle/>
          <a:p>
            <a:pPr marL="0" indent="0">
              <a:buNone/>
            </a:pPr>
            <a:r>
              <a:rPr lang="en-US" sz="1400" dirty="0">
                <a:solidFill>
                  <a:schemeClr val="accent5"/>
                </a:solidFill>
              </a:rPr>
              <a:t>SQL Server mất khoảng 30 giây để sẵn sàng. API chờ db healthy rồi mới chạy, nên không lỗi khi khởi động.</a:t>
            </a:r>
            <a:endParaRPr lang="en-US" sz="1400" dirty="0"/>
          </a:p>
        </p:txBody>
      </p:sp>
      <p:sp>
        <p:nvSpPr>
          <p:cNvPr id="13" name="cp2-num-bg"/>
          <p:cNvSpPr/>
          <p:nvPr/>
        </p:nvSpPr>
        <p:spPr>
          <a:xfrm>
            <a:off x="7543800" y="4617720"/>
            <a:ext cx="457200" cy="457200"/>
          </a:xfrm>
          <a:prstGeom prst="ellipse">
            <a:avLst/>
          </a:prstGeom>
          <a:solidFill>
            <a:schemeClr val="accent4"/>
          </a:solidFill>
          <a:ln w="12700">
            <a:solidFill>
              <a:schemeClr val="accent4"/>
            </a:solidFill>
            <a:prstDash val="solid"/>
          </a:ln>
        </p:spPr>
        <p:txBody>
          <a:bodyPr/>
          <a:lstStyle/>
          <a:p>
            <a:endParaRPr lang="en-US"/>
          </a:p>
        </p:txBody>
      </p:sp>
      <p:sp>
        <p:nvSpPr>
          <p:cNvPr id="14" name="cp2-num"/>
          <p:cNvSpPr txBox="1"/>
          <p:nvPr/>
        </p:nvSpPr>
        <p:spPr>
          <a:xfrm>
            <a:off x="7543800" y="46177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5" name="cp2-head"/>
          <p:cNvSpPr txBox="1"/>
          <p:nvPr/>
        </p:nvSpPr>
        <p:spPr>
          <a:xfrm>
            <a:off x="8183880" y="4572000"/>
            <a:ext cx="3429000" cy="457200"/>
          </a:xfrm>
          <a:prstGeom prst="rect">
            <a:avLst/>
          </a:prstGeom>
          <a:noFill/>
          <a:ln/>
        </p:spPr>
        <p:txBody>
          <a:bodyPr wrap="square" lIns="0" tIns="0" rIns="0" bIns="0" rtlCol="0" anchor="ctr"/>
          <a:lstStyle/>
          <a:p>
            <a:pPr marL="0" indent="0">
              <a:buNone/>
            </a:pPr>
            <a:r>
              <a:rPr lang="en-US" sz="1700" b="1" dirty="0">
                <a:solidFill>
                  <a:schemeClr val="tx1"/>
                </a:solidFill>
              </a:rPr>
              <a:t>$$ trong lệnh</a:t>
            </a:r>
            <a:endParaRPr lang="en-US" sz="1700" dirty="0"/>
          </a:p>
        </p:txBody>
      </p:sp>
      <p:sp>
        <p:nvSpPr>
          <p:cNvPr id="16" name="cp2-text"/>
          <p:cNvSpPr txBox="1"/>
          <p:nvPr/>
        </p:nvSpPr>
        <p:spPr>
          <a:xfrm>
            <a:off x="8183880" y="5029200"/>
            <a:ext cx="3429000" cy="1005840"/>
          </a:xfrm>
          <a:prstGeom prst="rect">
            <a:avLst/>
          </a:prstGeom>
          <a:noFill/>
          <a:ln/>
        </p:spPr>
        <p:txBody>
          <a:bodyPr wrap="square" lIns="0" tIns="0" rIns="0" bIns="0" rtlCol="0" anchor="t"/>
          <a:lstStyle/>
          <a:p>
            <a:pPr marL="0" indent="0">
              <a:buNone/>
            </a:pPr>
            <a:r>
              <a:rPr lang="en-US" sz="1400" dirty="0">
                <a:solidFill>
                  <a:schemeClr val="accent5"/>
                </a:solidFill>
              </a:rPr>
              <a:t>$$ để shell trong container đọc biến, Compose không thay giá trị lúc đọc file.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Dữ liệu sống sót qua down/up nhờ volume</a:t>
            </a:r>
            <a:endParaRPr lang="en-US" sz="3200" dirty="0"/>
          </a:p>
        </p:txBody>
      </p:sp>
      <p:sp>
        <p:nvSpPr>
          <p:cNvPr id="3" name="vol-card"/>
          <p:cNvSpPr/>
          <p:nvPr/>
        </p:nvSpPr>
        <p:spPr>
          <a:xfrm>
            <a:off x="548640" y="1371600"/>
            <a:ext cx="5394960" cy="2651760"/>
          </a:xfrm>
          <a:prstGeom prst="roundRect">
            <a:avLst>
              <a:gd name="adj" fmla="val 2759"/>
            </a:avLst>
          </a:prstGeom>
          <a:solidFill>
            <a:schemeClr val="bg2"/>
          </a:solidFill>
          <a:ln w="12700">
            <a:solidFill>
              <a:schemeClr val="bg2"/>
            </a:solidFill>
            <a:prstDash val="solid"/>
          </a:ln>
        </p:spPr>
        <p:txBody>
          <a:bodyPr/>
          <a:lstStyle/>
          <a:p>
            <a:endParaRPr lang="en-US"/>
          </a:p>
        </p:txBody>
      </p:sp>
      <p:sp>
        <p:nvSpPr>
          <p:cNvPr id="4" name="vol-icon"/>
          <p:cNvSpPr/>
          <p:nvPr/>
        </p:nvSpPr>
        <p:spPr>
          <a:xfrm>
            <a:off x="868680" y="1691640"/>
            <a:ext cx="822960" cy="1051560"/>
          </a:xfrm>
          <a:prstGeom prst="can">
            <a:avLst/>
          </a:prstGeom>
          <a:solidFill>
            <a:schemeClr val="accent3"/>
          </a:solidFill>
          <a:ln w="12700">
            <a:solidFill>
              <a:schemeClr val="accent3"/>
            </a:solidFill>
            <a:prstDash val="solid"/>
          </a:ln>
        </p:spPr>
        <p:txBody>
          <a:bodyPr/>
          <a:lstStyle/>
          <a:p>
            <a:endParaRPr lang="en-US"/>
          </a:p>
        </p:txBody>
      </p:sp>
      <p:sp>
        <p:nvSpPr>
          <p:cNvPr id="5" name="vol-head"/>
          <p:cNvSpPr txBox="1"/>
          <p:nvPr/>
        </p:nvSpPr>
        <p:spPr>
          <a:xfrm>
            <a:off x="1920240" y="1691640"/>
            <a:ext cx="3840480" cy="457200"/>
          </a:xfrm>
          <a:prstGeom prst="rect">
            <a:avLst/>
          </a:prstGeom>
          <a:noFill/>
          <a:ln/>
        </p:spPr>
        <p:txBody>
          <a:bodyPr wrap="square" lIns="0" tIns="0" rIns="0" bIns="0" rtlCol="0" anchor="ctr"/>
          <a:lstStyle/>
          <a:p>
            <a:pPr marL="0" indent="0">
              <a:buNone/>
            </a:pPr>
            <a:r>
              <a:rPr lang="en-US" sz="1800" b="1" dirty="0">
                <a:solidFill>
                  <a:schemeClr val="tx1"/>
                </a:solidFill>
              </a:rPr>
              <a:t>Named volume mssql-data</a:t>
            </a:r>
            <a:endParaRPr lang="en-US" sz="1800" dirty="0"/>
          </a:p>
        </p:txBody>
      </p:sp>
      <p:sp>
        <p:nvSpPr>
          <p:cNvPr id="6" name="vol-text"/>
          <p:cNvSpPr txBox="1"/>
          <p:nvPr/>
        </p:nvSpPr>
        <p:spPr>
          <a:xfrm>
            <a:off x="1920240" y="2194560"/>
            <a:ext cx="3840480" cy="2103120"/>
          </a:xfrm>
          <a:prstGeom prst="rect">
            <a:avLst/>
          </a:prstGeom>
          <a:noFill/>
          <a:ln/>
        </p:spPr>
        <p:txBody>
          <a:bodyPr wrap="square" lIns="0" tIns="0" rIns="0" bIns="0" rtlCol="0" anchor="t"/>
          <a:lstStyle/>
          <a:p>
            <a:pPr marL="0" indent="0">
              <a:buNone/>
            </a:pPr>
            <a:r>
              <a:rPr lang="en-US" sz="1500" dirty="0">
                <a:solidFill>
                  <a:schemeClr val="tx1"/>
                </a:solidFill>
              </a:rPr>
              <a:t>Gắn vào /var/opt/mssql: toàn bộ dữ liệu SQL Server, kể cả database master. Xóa container thì volume vẫn còn.</a:t>
            </a:r>
            <a:endParaRPr lang="en-US" sz="1500" dirty="0"/>
          </a:p>
        </p:txBody>
      </p:sp>
      <p:sp>
        <p:nvSpPr>
          <p:cNvPr id="7" name="init-card"/>
          <p:cNvSpPr/>
          <p:nvPr/>
        </p:nvSpPr>
        <p:spPr>
          <a:xfrm>
            <a:off x="6172200" y="1371600"/>
            <a:ext cx="5394960" cy="2651760"/>
          </a:xfrm>
          <a:prstGeom prst="roundRect">
            <a:avLst>
              <a:gd name="adj" fmla="val 2759"/>
            </a:avLst>
          </a:prstGeom>
          <a:solidFill>
            <a:schemeClr val="bg2"/>
          </a:solidFill>
          <a:ln w="12700">
            <a:solidFill>
              <a:schemeClr val="bg2"/>
            </a:solidFill>
            <a:prstDash val="solid"/>
          </a:ln>
        </p:spPr>
        <p:txBody>
          <a:bodyPr/>
          <a:lstStyle/>
          <a:p>
            <a:endParaRPr lang="en-US"/>
          </a:p>
        </p:txBody>
      </p:sp>
      <p:sp>
        <p:nvSpPr>
          <p:cNvPr id="8" name="init-head"/>
          <p:cNvSpPr txBox="1"/>
          <p:nvPr/>
        </p:nvSpPr>
        <p:spPr>
          <a:xfrm>
            <a:off x="6492240" y="1691640"/>
            <a:ext cx="4937760" cy="457200"/>
          </a:xfrm>
          <a:prstGeom prst="rect">
            <a:avLst/>
          </a:prstGeom>
          <a:noFill/>
          <a:ln/>
        </p:spPr>
        <p:txBody>
          <a:bodyPr wrap="square" lIns="0" tIns="0" rIns="0" bIns="0" rtlCol="0" anchor="ctr"/>
          <a:lstStyle/>
          <a:p>
            <a:pPr marL="0" indent="0">
              <a:buNone/>
            </a:pPr>
            <a:r>
              <a:rPr lang="en-US" sz="1800" b="1" dirty="0">
                <a:solidFill>
                  <a:schemeClr val="tx1"/>
                </a:solidFill>
              </a:rPr>
              <a:t>db-init chỉ chạy lần đầu</a:t>
            </a:r>
            <a:endParaRPr lang="en-US" sz="1800" dirty="0"/>
          </a:p>
        </p:txBody>
      </p:sp>
      <p:sp>
        <p:nvSpPr>
          <p:cNvPr id="9" name="init-text"/>
          <p:cNvSpPr txBox="1"/>
          <p:nvPr/>
        </p:nvSpPr>
        <p:spPr>
          <a:xfrm>
            <a:off x="6492240" y="2194560"/>
            <a:ext cx="4937760" cy="914400"/>
          </a:xfrm>
          <a:prstGeom prst="rect">
            <a:avLst/>
          </a:prstGeom>
          <a:noFill/>
          <a:ln/>
        </p:spPr>
        <p:txBody>
          <a:bodyPr wrap="square" lIns="0" tIns="0" rIns="0" bIns="0" rtlCol="0" anchor="t"/>
          <a:lstStyle/>
          <a:p>
            <a:pPr marL="0" indent="0">
              <a:buNone/>
            </a:pPr>
            <a:r>
              <a:rPr lang="en-US" sz="1500" dirty="0">
                <a:solidFill>
                  <a:schemeClr val="tx1"/>
                </a:solidFill>
              </a:rPr>
              <a:t>init.sql có lệnh DROP TABLE. Nếu chạy lại mỗi lần up thì mất dữ liệu, nên script đếm sys.databases trước:</a:t>
            </a:r>
            <a:endParaRPr lang="en-US" sz="1500" dirty="0"/>
          </a:p>
        </p:txBody>
      </p:sp>
      <p:sp>
        <p:nvSpPr>
          <p:cNvPr id="10" name="init-code-bg"/>
          <p:cNvSpPr/>
          <p:nvPr/>
        </p:nvSpPr>
        <p:spPr>
          <a:xfrm>
            <a:off x="6492240" y="3063240"/>
            <a:ext cx="4937760" cy="777240"/>
          </a:xfrm>
          <a:prstGeom prst="roundRect">
            <a:avLst>
              <a:gd name="adj" fmla="val 9412"/>
            </a:avLst>
          </a:prstGeom>
          <a:solidFill>
            <a:schemeClr val="tx1"/>
          </a:solidFill>
          <a:ln w="12700">
            <a:solidFill>
              <a:schemeClr val="tx1"/>
            </a:solidFill>
            <a:prstDash val="solid"/>
          </a:ln>
        </p:spPr>
        <p:txBody>
          <a:bodyPr/>
          <a:lstStyle/>
          <a:p>
            <a:endParaRPr lang="en-US"/>
          </a:p>
        </p:txBody>
      </p:sp>
      <p:sp>
        <p:nvSpPr>
          <p:cNvPr id="11" name="init-code"/>
          <p:cNvSpPr txBox="1"/>
          <p:nvPr/>
        </p:nvSpPr>
        <p:spPr>
          <a:xfrm>
            <a:off x="6720840" y="3246120"/>
            <a:ext cx="4480560" cy="411480"/>
          </a:xfrm>
          <a:prstGeom prst="rect">
            <a:avLst/>
          </a:prstGeom>
          <a:noFill/>
          <a:ln/>
        </p:spPr>
        <p:txBody>
          <a:bodyPr wrap="square" lIns="0" tIns="0" rIns="0" bIns="0" rtlCol="0" anchor="t"/>
          <a:lstStyle/>
          <a:p>
            <a:pPr marL="0" indent="0">
              <a:buNone/>
            </a:pPr>
            <a:r>
              <a:rPr lang="en-US" sz="1300" dirty="0">
                <a:solidFill>
                  <a:schemeClr val="bg1"/>
                </a:solidFill>
                <a:latin typeface="Consolas" pitchFamily="34" charset="0"/>
                <a:ea typeface="Consolas" pitchFamily="34" charset="-122"/>
                <a:cs typeface="Consolas" pitchFamily="34" charset="-120"/>
              </a:rPr>
              <a:t>chưa có TestManagerDb → chạy init.sql</a:t>
            </a:r>
            <a:endParaRPr lang="en-US" sz="1300" dirty="0"/>
          </a:p>
          <a:p>
            <a:pPr marL="0" indent="0">
              <a:buNone/>
            </a:pPr>
            <a:r>
              <a:rPr lang="en-US" sz="1300" dirty="0">
                <a:solidFill>
                  <a:schemeClr val="bg1"/>
                </a:solidFill>
                <a:latin typeface="Consolas" pitchFamily="34" charset="0"/>
                <a:ea typeface="Consolas" pitchFamily="34" charset="-122"/>
                <a:cs typeface="Consolas" pitchFamily="34" charset="-120"/>
              </a:rPr>
              <a:t>đã có                 → bỏ qua</a:t>
            </a:r>
            <a:endParaRPr lang="en-US" sz="1300" dirty="0"/>
          </a:p>
        </p:txBody>
      </p:sp>
      <p:sp>
        <p:nvSpPr>
          <p:cNvPr id="12" name="down-keep-bg"/>
          <p:cNvSpPr/>
          <p:nvPr/>
        </p:nvSpPr>
        <p:spPr>
          <a:xfrm>
            <a:off x="548640" y="4343400"/>
            <a:ext cx="5394960" cy="347472"/>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3" name="down-keep"/>
          <p:cNvSpPr txBox="1"/>
          <p:nvPr/>
        </p:nvSpPr>
        <p:spPr>
          <a:xfrm>
            <a:off x="548640" y="4343400"/>
            <a:ext cx="5394960" cy="347472"/>
          </a:xfrm>
          <a:prstGeom prst="rect">
            <a:avLst/>
          </a:prstGeom>
          <a:noFill/>
          <a:ln/>
        </p:spPr>
        <p:txBody>
          <a:bodyPr wrap="square" lIns="0" tIns="0" rIns="0" bIns="0" rtlCol="0" anchor="ctr"/>
          <a:lstStyle/>
          <a:p>
            <a:pPr marL="0" indent="0" algn="ctr">
              <a:buNone/>
            </a:pPr>
            <a:r>
              <a:rPr lang="en-US" sz="1400" b="1" dirty="0">
                <a:solidFill>
                  <a:schemeClr val="bg1"/>
                </a:solidFill>
              </a:rPr>
              <a:t>docker compose down → GIỮ dữ liệu</a:t>
            </a:r>
            <a:endParaRPr lang="en-US" sz="1400" dirty="0"/>
          </a:p>
        </p:txBody>
      </p:sp>
      <p:sp>
        <p:nvSpPr>
          <p:cNvPr id="14" name="down-v-bg"/>
          <p:cNvSpPr/>
          <p:nvPr/>
        </p:nvSpPr>
        <p:spPr>
          <a:xfrm>
            <a:off x="6217920" y="4343400"/>
            <a:ext cx="5394960" cy="347472"/>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15" name="down-v"/>
          <p:cNvSpPr txBox="1"/>
          <p:nvPr/>
        </p:nvSpPr>
        <p:spPr>
          <a:xfrm>
            <a:off x="6217920" y="4343400"/>
            <a:ext cx="5394960" cy="347472"/>
          </a:xfrm>
          <a:prstGeom prst="rect">
            <a:avLst/>
          </a:prstGeom>
          <a:noFill/>
          <a:ln/>
        </p:spPr>
        <p:txBody>
          <a:bodyPr wrap="square" lIns="0" tIns="0" rIns="0" bIns="0" rtlCol="0" anchor="ctr"/>
          <a:lstStyle/>
          <a:p>
            <a:pPr marL="0" indent="0" algn="ctr">
              <a:buNone/>
            </a:pPr>
            <a:r>
              <a:rPr lang="en-US" sz="1400" b="1" dirty="0">
                <a:solidFill>
                  <a:schemeClr val="bg1"/>
                </a:solidFill>
              </a:rPr>
              <a:t>docker compose down -v → XÓA cả volume</a:t>
            </a:r>
            <a:endParaRPr lang="en-US" sz="1400" dirty="0"/>
          </a:p>
        </p:txBody>
      </p:sp>
      <p:sp>
        <p:nvSpPr>
          <p:cNvPr id="16" name="persist-proof"/>
          <p:cNvSpPr txBox="1"/>
          <p:nvPr/>
        </p:nvSpPr>
        <p:spPr>
          <a:xfrm>
            <a:off x="548640" y="4983480"/>
            <a:ext cx="11064240" cy="548640"/>
          </a:xfrm>
          <a:prstGeom prst="rect">
            <a:avLst/>
          </a:prstGeom>
          <a:noFill/>
          <a:ln/>
        </p:spPr>
        <p:txBody>
          <a:bodyPr wrap="square" lIns="0" tIns="0" rIns="0" bIns="0" rtlCol="0" anchor="ctr"/>
          <a:lstStyle/>
          <a:p>
            <a:pPr marL="0" indent="0">
              <a:buNone/>
            </a:pPr>
            <a:r>
              <a:rPr lang="en-US" sz="1400" i="1" dirty="0">
                <a:solidFill>
                  <a:schemeClr val="accent5"/>
                </a:solidFill>
              </a:rPr>
              <a:t>Đã kiểm thử: tạo môn DK01, chạy down rồi up, môn vẫn còn. db-init in "đã tồn tại, bỏ qua init.sql".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.env ở lại trên máy, .env.example lên repo</a:t>
            </a:r>
            <a:endParaRPr lang="en-US" sz="3200" dirty="0"/>
          </a:p>
        </p:txBody>
      </p:sp>
      <p:sp>
        <p:nvSpPr>
          <p:cNvPr id="3" name="env-card"/>
          <p:cNvSpPr/>
          <p:nvPr/>
        </p:nvSpPr>
        <p:spPr>
          <a:xfrm>
            <a:off x="548640" y="1371600"/>
            <a:ext cx="5394960" cy="1920240"/>
          </a:xfrm>
          <a:prstGeom prst="roundRect">
            <a:avLst>
              <a:gd name="adj" fmla="val 3810"/>
            </a:avLst>
          </a:prstGeom>
          <a:solidFill>
            <a:schemeClr val="bg2"/>
          </a:solidFill>
          <a:ln w="12700">
            <a:solidFill>
              <a:schemeClr val="bg2"/>
            </a:solidFill>
            <a:prstDash val="solid"/>
          </a:ln>
        </p:spPr>
        <p:txBody>
          <a:bodyPr/>
          <a:lstStyle/>
          <a:p>
            <a:endParaRPr lang="en-US"/>
          </a:p>
        </p:txBody>
      </p:sp>
      <p:sp>
        <p:nvSpPr>
          <p:cNvPr id="4" name="env-head"/>
          <p:cNvSpPr txBox="1"/>
          <p:nvPr/>
        </p:nvSpPr>
        <p:spPr>
          <a:xfrm>
            <a:off x="822960" y="1554480"/>
            <a:ext cx="2743200" cy="457200"/>
          </a:xfrm>
          <a:prstGeom prst="rect">
            <a:avLst/>
          </a:prstGeom>
          <a:noFill/>
          <a:ln/>
        </p:spPr>
        <p:txBody>
          <a:bodyPr wrap="square" lIns="0" tIns="0" rIns="0" bIns="0" rtlCol="0" anchor="ctr"/>
          <a:lstStyle/>
          <a:p>
            <a:pPr marL="0" indent="0">
              <a:buNone/>
            </a:pPr>
            <a:r>
              <a:rPr lang="en-US" sz="2200" b="1" dirty="0">
                <a:solidFill>
                  <a:schemeClr val="tx1"/>
                </a:solidFill>
                <a:latin typeface="Consolas" pitchFamily="34" charset="0"/>
                <a:ea typeface="Consolas" pitchFamily="34" charset="-122"/>
                <a:cs typeface="Consolas" pitchFamily="34" charset="-120"/>
              </a:rPr>
              <a:t>.env</a:t>
            </a:r>
            <a:endParaRPr lang="en-US" sz="2200" dirty="0"/>
          </a:p>
        </p:txBody>
      </p:sp>
      <p:sp>
        <p:nvSpPr>
          <p:cNvPr id="5" name="env-pill-bg"/>
          <p:cNvSpPr/>
          <p:nvPr/>
        </p:nvSpPr>
        <p:spPr>
          <a:xfrm>
            <a:off x="3977640" y="1600200"/>
            <a:ext cx="1737360" cy="347472"/>
          </a:xfrm>
          <a:prstGeom prst="roundRect">
            <a:avLst>
              <a:gd name="adj" fmla="val 50000"/>
            </a:avLst>
          </a:prstGeom>
          <a:solidFill>
            <a:schemeClr val="accent2"/>
          </a:solidFill>
          <a:ln w="12700">
            <a:solidFill>
              <a:schemeClr val="accent2"/>
            </a:solidFill>
            <a:prstDash val="solid"/>
          </a:ln>
        </p:spPr>
        <p:txBody>
          <a:bodyPr/>
          <a:lstStyle/>
          <a:p>
            <a:endParaRPr lang="en-US"/>
          </a:p>
        </p:txBody>
      </p:sp>
      <p:sp>
        <p:nvSpPr>
          <p:cNvPr id="6" name="env-pill"/>
          <p:cNvSpPr txBox="1"/>
          <p:nvPr/>
        </p:nvSpPr>
        <p:spPr>
          <a:xfrm>
            <a:off x="3977640" y="1600200"/>
            <a:ext cx="1737360" cy="347472"/>
          </a:xfrm>
          <a:prstGeom prst="rect">
            <a:avLst/>
          </a:prstGeom>
          <a:noFill/>
          <a:ln/>
        </p:spPr>
        <p:txBody>
          <a:bodyPr wrap="square" lIns="0" tIns="0" rIns="0" bIns="0" rtlCol="0" anchor="ctr"/>
          <a:lstStyle/>
          <a:p>
            <a:pPr marL="0" indent="0" algn="ctr">
              <a:buNone/>
            </a:pPr>
            <a:r>
              <a:rPr lang="en-US" sz="1200" b="1" dirty="0">
                <a:solidFill>
                  <a:schemeClr val="bg1"/>
                </a:solidFill>
              </a:rPr>
              <a:t>KHÔNG COMMIT</a:t>
            </a:r>
            <a:endParaRPr lang="en-US" sz="1200" dirty="0"/>
          </a:p>
        </p:txBody>
      </p:sp>
      <p:sp>
        <p:nvSpPr>
          <p:cNvPr id="7" name="env-text"/>
          <p:cNvSpPr txBox="1"/>
          <p:nvPr/>
        </p:nvSpPr>
        <p:spPr>
          <a:xfrm>
            <a:off x="822960" y="2148840"/>
            <a:ext cx="4846320" cy="1005840"/>
          </a:xfrm>
          <a:prstGeom prst="rect">
            <a:avLst/>
          </a:prstGeom>
          <a:noFill/>
          <a:ln/>
        </p:spPr>
        <p:txBody>
          <a:bodyPr wrap="square" lIns="0" tIns="0" rIns="0" bIns="0" rtlCol="0" anchor="t"/>
          <a:lstStyle/>
          <a:p>
            <a:pPr marL="0" indent="0">
              <a:buNone/>
            </a:pPr>
            <a:r>
              <a:rPr lang="en-US" sz="1500" dirty="0">
                <a:solidFill>
                  <a:schemeClr val="tx1"/>
                </a:solidFill>
              </a:rPr>
              <a:t>Chứa mật khẩu thật. Nằm trong .gitignore (dòng 382) và .dockerignore, nên không vào repo, cũng không vào image.</a:t>
            </a:r>
            <a:endParaRPr lang="en-US" sz="1500" dirty="0"/>
          </a:p>
        </p:txBody>
      </p:sp>
      <p:sp>
        <p:nvSpPr>
          <p:cNvPr id="8" name="envex-card"/>
          <p:cNvSpPr/>
          <p:nvPr/>
        </p:nvSpPr>
        <p:spPr>
          <a:xfrm>
            <a:off x="6217920" y="1371600"/>
            <a:ext cx="5394960" cy="1920240"/>
          </a:xfrm>
          <a:prstGeom prst="roundRect">
            <a:avLst>
              <a:gd name="adj" fmla="val 3810"/>
            </a:avLst>
          </a:prstGeom>
          <a:solidFill>
            <a:schemeClr val="bg2"/>
          </a:solidFill>
          <a:ln w="12700">
            <a:solidFill>
              <a:schemeClr val="bg2"/>
            </a:solidFill>
            <a:prstDash val="solid"/>
          </a:ln>
        </p:spPr>
        <p:txBody>
          <a:bodyPr/>
          <a:lstStyle/>
          <a:p>
            <a:endParaRPr lang="en-US"/>
          </a:p>
        </p:txBody>
      </p:sp>
      <p:sp>
        <p:nvSpPr>
          <p:cNvPr id="9" name="envex-head"/>
          <p:cNvSpPr txBox="1"/>
          <p:nvPr/>
        </p:nvSpPr>
        <p:spPr>
          <a:xfrm>
            <a:off x="6492240" y="1554480"/>
            <a:ext cx="2926080" cy="457200"/>
          </a:xfrm>
          <a:prstGeom prst="rect">
            <a:avLst/>
          </a:prstGeom>
          <a:noFill/>
          <a:ln/>
        </p:spPr>
        <p:txBody>
          <a:bodyPr wrap="square" lIns="0" tIns="0" rIns="0" bIns="0" rtlCol="0" anchor="ctr"/>
          <a:lstStyle/>
          <a:p>
            <a:pPr marL="0" indent="0">
              <a:buNone/>
            </a:pPr>
            <a:r>
              <a:rPr lang="en-US" sz="2200" b="1" dirty="0">
                <a:solidFill>
                  <a:schemeClr val="tx1"/>
                </a:solidFill>
                <a:latin typeface="Consolas" pitchFamily="34" charset="0"/>
                <a:ea typeface="Consolas" pitchFamily="34" charset="-122"/>
                <a:cs typeface="Consolas" pitchFamily="34" charset="-120"/>
              </a:rPr>
              <a:t>.env.example</a:t>
            </a:r>
            <a:endParaRPr lang="en-US" sz="2200" dirty="0"/>
          </a:p>
        </p:txBody>
      </p:sp>
      <p:sp>
        <p:nvSpPr>
          <p:cNvPr id="10" name="envex-pill-bg"/>
          <p:cNvSpPr/>
          <p:nvPr/>
        </p:nvSpPr>
        <p:spPr>
          <a:xfrm>
            <a:off x="9692640" y="1600200"/>
            <a:ext cx="1645920" cy="347472"/>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1" name="envex-pill"/>
          <p:cNvSpPr txBox="1"/>
          <p:nvPr/>
        </p:nvSpPr>
        <p:spPr>
          <a:xfrm>
            <a:off x="9692640" y="1600200"/>
            <a:ext cx="1645920" cy="347472"/>
          </a:xfrm>
          <a:prstGeom prst="rect">
            <a:avLst/>
          </a:prstGeom>
          <a:noFill/>
          <a:ln/>
        </p:spPr>
        <p:txBody>
          <a:bodyPr wrap="square" lIns="0" tIns="0" rIns="0" bIns="0" rtlCol="0" anchor="ctr"/>
          <a:lstStyle/>
          <a:p>
            <a:pPr marL="0" indent="0" algn="ctr">
              <a:buNone/>
            </a:pPr>
            <a:r>
              <a:rPr lang="en-US" sz="1200" b="1" dirty="0">
                <a:solidFill>
                  <a:schemeClr val="bg1"/>
                </a:solidFill>
              </a:rPr>
              <a:t>CÓ COMMIT</a:t>
            </a:r>
            <a:endParaRPr lang="en-US" sz="1200" dirty="0"/>
          </a:p>
        </p:txBody>
      </p:sp>
      <p:sp>
        <p:nvSpPr>
          <p:cNvPr id="12" name="envex-text"/>
          <p:cNvSpPr txBox="1"/>
          <p:nvPr/>
        </p:nvSpPr>
        <p:spPr>
          <a:xfrm>
            <a:off x="6492240" y="2148840"/>
            <a:ext cx="4846320" cy="1005840"/>
          </a:xfrm>
          <a:prstGeom prst="rect">
            <a:avLst/>
          </a:prstGeom>
          <a:noFill/>
          <a:ln/>
        </p:spPr>
        <p:txBody>
          <a:bodyPr wrap="square" lIns="0" tIns="0" rIns="0" bIns="0" rtlCol="0" anchor="t"/>
          <a:lstStyle/>
          <a:p>
            <a:pPr marL="0" indent="0">
              <a:buNone/>
            </a:pPr>
            <a:r>
              <a:rPr lang="en-US" sz="1500" dirty="0">
                <a:solidFill>
                  <a:schemeClr val="tx1"/>
                </a:solidFill>
              </a:rPr>
              <a:t>Chỉ chứa giá trị mẫu. Người mới chạy cp .env.example .env rồi đổi mật khẩu.</a:t>
            </a:r>
            <a:endParaRPr lang="en-US" sz="1500" dirty="0"/>
          </a:p>
        </p:txBody>
      </p:sp>
      <p:sp>
        <p:nvSpPr>
          <p:cNvPr id="13" name="finding"/>
          <p:cNvSpPr/>
          <p:nvPr/>
        </p:nvSpPr>
        <p:spPr>
          <a:xfrm>
            <a:off x="548640" y="3611880"/>
            <a:ext cx="11064240" cy="1600200"/>
          </a:xfrm>
          <a:prstGeom prst="roundRect">
            <a:avLst>
              <a:gd name="adj" fmla="val 4571"/>
            </a:avLst>
          </a:prstGeom>
          <a:solidFill>
            <a:schemeClr val="accent3"/>
          </a:solidFill>
          <a:ln w="12700">
            <a:solidFill>
              <a:schemeClr val="accent3"/>
            </a:solidFill>
            <a:prstDash val="solid"/>
          </a:ln>
        </p:spPr>
        <p:txBody>
          <a:bodyPr/>
          <a:lstStyle/>
          <a:p>
            <a:endParaRPr lang="en-US"/>
          </a:p>
        </p:txBody>
      </p:sp>
      <p:sp>
        <p:nvSpPr>
          <p:cNvPr id="14" name="finding-text"/>
          <p:cNvSpPr txBox="1"/>
          <p:nvPr/>
        </p:nvSpPr>
        <p:spPr>
          <a:xfrm>
            <a:off x="822960" y="3703320"/>
            <a:ext cx="10515600" cy="1417320"/>
          </a:xfrm>
          <a:prstGeom prst="rect">
            <a:avLst/>
          </a:prstGeom>
          <a:noFill/>
          <a:ln/>
        </p:spPr>
        <p:txBody>
          <a:bodyPr wrap="square" lIns="0" tIns="0" rIns="0" bIns="0" rtlCol="0" anchor="ctr"/>
          <a:lstStyle/>
          <a:p>
            <a:pPr marL="0" indent="0">
              <a:buNone/>
            </a:pPr>
            <a:r>
              <a:rPr lang="en-US" sz="1500" b="1" dirty="0">
                <a:solidFill>
                  <a:schemeClr val="tx1"/>
                </a:solidFill>
              </a:rPr>
              <a:t>Phát hiện khi kiểm thử: </a:t>
            </a:r>
            <a:r>
              <a:rPr lang="en-US" sz="1500" dirty="0">
                <a:solidFill>
                  <a:schemeClr val="tx1"/>
                </a:solidFill>
              </a:rPr>
              <a:t>.env trên máy đang dùng đúng giá trị mẫu ChangeMe_123!. Đây không phải lộ secret, vì giá trị mẫu vốn công khai, nhưng ai đọc repo cũng biết mật khẩu. Việc cần làm: đặt mật khẩu riêng, chạy ALTER LOGIN sa trong container (hoặc down -v rồi up lại).</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200" b="1" dirty="0">
                <a:solidFill>
                  <a:schemeClr val="tx1"/>
                </a:solidFill>
              </a:rPr>
              <a:t>Demo: năm lệnh, chạy theo thứ tự</a:t>
            </a:r>
            <a:endParaRPr lang="en-US" sz="3200" dirty="0"/>
          </a:p>
        </p:txBody>
      </p:sp>
      <p:sp>
        <p:nvSpPr>
          <p:cNvPr id="3" name="demo-code-bg"/>
          <p:cNvSpPr/>
          <p:nvPr/>
        </p:nvSpPr>
        <p:spPr>
          <a:xfrm>
            <a:off x="548640" y="1371600"/>
            <a:ext cx="11064240" cy="4480560"/>
          </a:xfrm>
          <a:prstGeom prst="roundRect">
            <a:avLst>
              <a:gd name="adj" fmla="val 1633"/>
            </a:avLst>
          </a:prstGeom>
          <a:solidFill>
            <a:schemeClr val="tx1"/>
          </a:solidFill>
          <a:ln w="12700">
            <a:solidFill>
              <a:schemeClr val="tx1"/>
            </a:solidFill>
            <a:prstDash val="solid"/>
          </a:ln>
        </p:spPr>
        <p:txBody>
          <a:bodyPr/>
          <a:lstStyle/>
          <a:p>
            <a:endParaRPr lang="en-US"/>
          </a:p>
        </p:txBody>
      </p:sp>
      <p:sp>
        <p:nvSpPr>
          <p:cNvPr id="4" name="demo-code"/>
          <p:cNvSpPr txBox="1"/>
          <p:nvPr/>
        </p:nvSpPr>
        <p:spPr>
          <a:xfrm>
            <a:off x="777240" y="1554480"/>
            <a:ext cx="10607040" cy="4114800"/>
          </a:xfrm>
          <a:prstGeom prst="rect">
            <a:avLst/>
          </a:prstGeom>
          <a:noFill/>
          <a:ln/>
        </p:spPr>
        <p:txBody>
          <a:bodyPr wrap="square" lIns="0" tIns="0" rIns="0" bIns="0" rtlCol="0" anchor="t"/>
          <a:lstStyle/>
          <a:p>
            <a:pPr marL="0" indent="0">
              <a:buNone/>
            </a:pPr>
            <a:r>
              <a:rPr lang="en-US" sz="1400" dirty="0">
                <a:solidFill>
                  <a:schemeClr val="bg1"/>
                </a:solidFill>
                <a:latin typeface="Consolas" pitchFamily="34" charset="0"/>
                <a:ea typeface="Consolas" pitchFamily="34" charset="-122"/>
                <a:cs typeface="Consolas" pitchFamily="34" charset="-120"/>
              </a:rPr>
              <a:t># 1. Khởi động (đã có .env)</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docker compose up -d --build</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docker compose ps -a</a:t>
            </a:r>
            <a:endParaRPr lang="en-US" sz="1400" dirty="0"/>
          </a:p>
          <a:p>
            <a:pPr marL="0" indent="0">
              <a:buNone/>
            </a:pP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 2. Health check</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curl.exe -i http://localhost:8080/health          # 200 Healthy</a:t>
            </a:r>
            <a:endParaRPr lang="en-US" sz="1400" dirty="0"/>
          </a:p>
          <a:p>
            <a:pPr marL="0" indent="0">
              <a:buNone/>
            </a:pP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 3. Tắt DB → 503, bật lại → 200</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docker compose stop db ; curl.exe -i http://localhost:8080/health</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docker compose start db</a:t>
            </a:r>
            <a:endParaRPr lang="en-US" sz="1400" dirty="0"/>
          </a:p>
          <a:p>
            <a:pPr marL="0" indent="0">
              <a:buNone/>
            </a:pP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 4. Dữ liệu còn sau down / up</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docker compose down ; docker compose up -d</a:t>
            </a:r>
            <a:endParaRPr lang="en-US" sz="1400" dirty="0"/>
          </a:p>
          <a:p>
            <a:pPr marL="0" indent="0">
              <a:buNone/>
            </a:pP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 5. Biến môi trường trong container (đừng chiếu mật khẩu)</a:t>
            </a:r>
            <a:endParaRPr lang="en-US" sz="1400" dirty="0"/>
          </a:p>
          <a:p>
            <a:pPr marL="0" indent="0">
              <a:buNone/>
            </a:pPr>
            <a:r>
              <a:rPr lang="en-US" sz="1400" dirty="0">
                <a:solidFill>
                  <a:schemeClr val="bg1"/>
                </a:solidFill>
                <a:latin typeface="Consolas" pitchFamily="34" charset="0"/>
                <a:ea typeface="Consolas" pitchFamily="34" charset="-122"/>
                <a:cs typeface="Consolas" pitchFamily="34" charset="-120"/>
              </a:rPr>
              <a:t>docker compose exec api printenv ConnectionStrings__Default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theme/theme1.xml><?xml version="1.0" encoding="utf-8"?>
<a:theme xmlns:a="http://schemas.openxmlformats.org/drawingml/2006/main" name="TestManager Compose">
  <a:themeElements>
    <a:clrScheme name="TestManager Compose">
      <a:dk1>
        <a:srgbClr val="14202E"/>
      </a:dk1>
      <a:lt1>
        <a:srgbClr val="FFFFFF"/>
      </a:lt1>
      <a:dk2>
        <a:srgbClr val="0F3D4C"/>
      </a:dk2>
      <a:lt2>
        <a:srgbClr val="EEF4F6"/>
      </a:lt2>
      <a:accent1>
        <a:srgbClr val="0E9F8E"/>
      </a:accent1>
      <a:accent2>
        <a:srgbClr val="D9482B"/>
      </a:accent2>
      <a:accent3>
        <a:srgbClr val="F2A541"/>
      </a:accent3>
      <a:accent4>
        <a:srgbClr val="3A6EA5"/>
      </a:accent4>
      <a:accent5>
        <a:srgbClr val="5E6E7E"/>
      </a:accent5>
      <a:accent6>
        <a:srgbClr val="9BC53D"/>
      </a:accent6>
      <a:hlink>
        <a:srgbClr val="0E9F8E"/>
      </a:hlink>
      <a:folHlink>
        <a:srgbClr val="3A6EA5"/>
      </a:folHlink>
    </a:clrScheme>
    <a:fontScheme name="TestManager Compos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1880</Words>
  <Application>Microsoft Office PowerPoint</Application>
  <PresentationFormat>Widescreen</PresentationFormat>
  <Paragraphs>151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Consolas</vt:lpstr>
      <vt:lpstr>TestManager Compose</vt:lpstr>
      <vt:lpstr>Cấu hình, health check và Docker Compose</vt:lpstr>
      <vt:lpstr>Mục tiêu và 4 tiêu chí của đề: đạt cả 4</vt:lpstr>
      <vt:lpstr>Ba service trong một mạng, một volume giữ dữ liệu</vt:lpstr>
      <vt:lpstr>Mật khẩu đi từ .env vào container, không qua repo</vt:lpstr>
      <vt:lpstr>/health hỏi thẳng database, trả 200 hoặc 503</vt:lpstr>
      <vt:lpstr>docker-compose.yml: ba khối quan trọng</vt:lpstr>
      <vt:lpstr>Dữ liệu sống sót qua down/up nhờ volume</vt:lpstr>
      <vt:lpstr>.env ở lại trên máy, .env.example lên repo</vt:lpstr>
      <vt:lpstr>Demo: năm lệnh, chạy theo thứ tự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Cấu hình, health check, Docker Compose</dc:title>
  <dc:subject>PptxGenJS Presentation</dc:subject>
  <dc:creator>[Tên bạn]</dc:creator>
  <cp:lastModifiedBy>Kaopiz Office Apps</cp:lastModifiedBy>
  <cp:revision>2</cp:revision>
  <dcterms:created xsi:type="dcterms:W3CDTF">2026-10-22T08:42:08Z</dcterms:created>
  <dcterms:modified xsi:type="dcterms:W3CDTF">2026-10-22T09:13:27Z</dcterms:modified>
</cp:coreProperties>
</file>